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is a job-search tool built on the opposite premise from the mass-apply crowd: fewer, better applications, and the tool never acts on your behalf.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category points the wrong way. This tool is defined against these three failures.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principles are the product. They are also enforced in the code and the ethics file, not just aspirational.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job-scan is the heart of it; the other two are companions.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once; then four working modes you invoke in plain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declared unmergeable in the ethics file. That is what makes the honesty claim credible rather than decorative.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to the practical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 barrier. No API keys to wrangle if you already run Claude.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thing to get right: finish setup before scheduling. A scan with no profile has nothing to compare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distinctive part of setup. Give it room in any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anatomy of a single result. The visible sub-scores are the honest alternative to a 0-100.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draw on the story bank and profile built at setup. The tool drafts; you send.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Managing expectations is part of the product. Say this plainly to anyone you hand it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three-line quickstart and the one-line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509760" y="-1554480"/>
            <a:ext cx="4206240" cy="4206240"/>
          </a:xfrm>
          <a:prstGeom prst="ellipse">
            <a:avLst/>
          </a:prstGeom>
          <a:solidFill>
            <a:srgbClr val="2A3573"/>
          </a:solidFill>
          <a:ln/>
        </p:spPr>
      </p:sp>
      <p:sp>
        <p:nvSpPr>
          <p:cNvPr id="3" name="Shape 1"/>
          <p:cNvSpPr/>
          <p:nvPr/>
        </p:nvSpPr>
        <p:spPr>
          <a:xfrm>
            <a:off x="10698480" y="4663440"/>
            <a:ext cx="2926080" cy="2926080"/>
          </a:xfrm>
          <a:prstGeom prst="ellipse">
            <a:avLst/>
          </a:prstGeom>
          <a:solidFill>
            <a:srgbClr val="2A3573"/>
          </a:solidFill>
          <a:ln/>
        </p:spPr>
      </p:sp>
      <p:sp>
        <p:nvSpPr>
          <p:cNvPr id="4" name="Text 2"/>
          <p:cNvSpPr/>
          <p:nvPr/>
        </p:nvSpPr>
        <p:spPr>
          <a:xfrm>
            <a:off x="822960" y="1371600"/>
            <a:ext cx="10058400" cy="365760"/>
          </a:xfrm>
          <a:prstGeom prst="rect">
            <a:avLst/>
          </a:prstGeom>
          <a:noFill/>
          <a:ln/>
        </p:spPr>
        <p:txBody>
          <a:bodyPr wrap="square" lIns="0" tIns="0" rIns="0" bIns="0" rtlCol="0" anchor="ctr"/>
          <a:lstStyle/>
          <a:p>
            <a:pPr indent="0" marL="0">
              <a:buNone/>
            </a:pPr>
            <a:r>
              <a:rPr lang="en-US" sz="1400" b="1" spc="300" kern="0" dirty="0">
                <a:solidFill>
                  <a:srgbClr val="02C39A"/>
                </a:solidFill>
                <a:latin typeface="Calibri" pitchFamily="34" charset="0"/>
                <a:ea typeface="Calibri" pitchFamily="34" charset="-122"/>
                <a:cs typeface="Calibri" pitchFamily="34" charset="-120"/>
              </a:rPr>
              <a:t>KOCHAB  ·  A PERSONALIZED JOB SEARCH ASSISTANT</a:t>
            </a:r>
            <a:endParaRPr lang="en-US" sz="1400" dirty="0"/>
          </a:p>
        </p:txBody>
      </p:sp>
      <p:sp>
        <p:nvSpPr>
          <p:cNvPr id="5" name="Text 3"/>
          <p:cNvSpPr/>
          <p:nvPr/>
        </p:nvSpPr>
        <p:spPr>
          <a:xfrm>
            <a:off x="777240" y="1920240"/>
            <a:ext cx="10058400" cy="2011680"/>
          </a:xfrm>
          <a:prstGeom prst="rect">
            <a:avLst/>
          </a:prstGeom>
          <a:noFill/>
          <a:ln/>
        </p:spPr>
        <p:txBody>
          <a:bodyPr wrap="square" lIns="0" tIns="0" rIns="0" bIns="0" rtlCol="0" anchor="ctr"/>
          <a:lstStyle/>
          <a:p>
            <a:pPr indent="0" marL="0">
              <a:lnSpc>
                <a:spcPct val="100000"/>
              </a:lnSpc>
              <a:buNone/>
            </a:pPr>
            <a:r>
              <a:rPr lang="en-US" sz="4600" b="1" dirty="0">
                <a:solidFill>
                  <a:srgbClr val="FFFFFF"/>
                </a:solidFill>
                <a:latin typeface="Cambria" pitchFamily="34" charset="0"/>
                <a:ea typeface="Cambria" pitchFamily="34" charset="-122"/>
                <a:cs typeface="Cambria" pitchFamily="34" charset="-120"/>
              </a:rPr>
              <a:t>An honest job search</a:t>
            </a:r>
            <a:endParaRPr lang="en-US" sz="4600" dirty="0"/>
          </a:p>
          <a:p>
            <a:pPr indent="0" marL="0">
              <a:lnSpc>
                <a:spcPct val="100000"/>
              </a:lnSpc>
              <a:buNone/>
            </a:pPr>
            <a:r>
              <a:rPr lang="en-US" sz="4600" b="1" dirty="0">
                <a:solidFill>
                  <a:srgbClr val="FFFFFF"/>
                </a:solidFill>
                <a:latin typeface="Cambria" pitchFamily="34" charset="0"/>
                <a:ea typeface="Cambria" pitchFamily="34" charset="-122"/>
                <a:cs typeface="Cambria" pitchFamily="34" charset="-120"/>
              </a:rPr>
              <a:t>that runs inside Claude</a:t>
            </a:r>
            <a:endParaRPr lang="en-US" sz="4600" dirty="0"/>
          </a:p>
        </p:txBody>
      </p:sp>
      <p:sp>
        <p:nvSpPr>
          <p:cNvPr id="6" name="Text 4"/>
          <p:cNvSpPr/>
          <p:nvPr/>
        </p:nvSpPr>
        <p:spPr>
          <a:xfrm>
            <a:off x="822960" y="4114800"/>
            <a:ext cx="9509760" cy="1005840"/>
          </a:xfrm>
          <a:prstGeom prst="rect">
            <a:avLst/>
          </a:prstGeom>
          <a:noFill/>
          <a:ln/>
        </p:spPr>
        <p:txBody>
          <a:bodyPr wrap="square" lIns="0" tIns="0" rIns="0" bIns="0" rtlCol="0" anchor="ctr"/>
          <a:lstStyle/>
          <a:p>
            <a:pPr indent="0" marL="0">
              <a:buNone/>
            </a:pPr>
            <a:r>
              <a:rPr lang="en-US" sz="1700" dirty="0">
                <a:solidFill>
                  <a:srgbClr val="CADCFC"/>
                </a:solidFill>
                <a:latin typeface="Calibri" pitchFamily="34" charset="0"/>
                <a:ea typeface="Calibri" pitchFamily="34" charset="-122"/>
                <a:cs typeface="Calibri" pitchFamily="34" charset="-120"/>
              </a:rPr>
              <a:t>Finds roles that actually fit. Tells you the truth about the ones that don't. Drafts your materials without inventing anything. You always send.</a:t>
            </a:r>
            <a:endParaRPr lang="en-US" sz="1700" dirty="0"/>
          </a:p>
        </p:txBody>
      </p:sp>
      <p:sp>
        <p:nvSpPr>
          <p:cNvPr id="7" name="Text 5"/>
          <p:cNvSpPr/>
          <p:nvPr/>
        </p:nvSpPr>
        <p:spPr>
          <a:xfrm>
            <a:off x="822960" y="5943600"/>
            <a:ext cx="10424160" cy="365760"/>
          </a:xfrm>
          <a:prstGeom prst="rect">
            <a:avLst/>
          </a:prstGeom>
          <a:noFill/>
          <a:ln/>
        </p:spPr>
        <p:txBody>
          <a:bodyPr wrap="square" lIns="0" tIns="0" rIns="0" bIns="0" rtlCol="0" anchor="ctr"/>
          <a:lstStyle/>
          <a:p>
            <a:pPr indent="0" marL="0">
              <a:buNone/>
            </a:pPr>
            <a:r>
              <a:rPr lang="en-US" sz="1300" i="1" dirty="0">
                <a:solidFill>
                  <a:srgbClr val="8FA0CF"/>
                </a:solidFill>
                <a:latin typeface="Calibri" pitchFamily="34" charset="0"/>
                <a:ea typeface="Calibri" pitchFamily="34" charset="-122"/>
                <a:cs typeface="Calibri" pitchFamily="34" charset="-120"/>
              </a:rPr>
              <a:t>A set of Claude skills  ·  MIT licensed  ·  Your data stays on your machine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640080" y="502920"/>
            <a:ext cx="7315200" cy="365760"/>
          </a:xfrm>
          <a:prstGeom prst="rect">
            <a:avLst/>
          </a:prstGeom>
          <a:noFill/>
          <a:ln/>
        </p:spPr>
        <p:txBody>
          <a:bodyPr wrap="square" lIns="0" tIns="0" rIns="0" bIns="0" rtlCol="0" anchor="ctr"/>
          <a:lstStyle/>
          <a:p>
            <a:pPr indent="0" marL="0">
              <a:buNone/>
            </a:pPr>
            <a:r>
              <a:rPr lang="en-US" sz="1300" b="1" spc="300" kern="0" dirty="0">
                <a:solidFill>
                  <a:srgbClr val="F96167"/>
                </a:solidFill>
                <a:latin typeface="Calibri" pitchFamily="34" charset="0"/>
                <a:ea typeface="Calibri" pitchFamily="34" charset="-122"/>
                <a:cs typeface="Calibri" pitchFamily="34" charset="-120"/>
              </a:rPr>
              <a:t>THE PROBLEM</a:t>
            </a:r>
            <a:endParaRPr lang="en-US" sz="1300" dirty="0"/>
          </a:p>
        </p:txBody>
      </p:sp>
      <p:sp>
        <p:nvSpPr>
          <p:cNvPr id="3" name="Text 1"/>
          <p:cNvSpPr/>
          <p:nvPr/>
        </p:nvSpPr>
        <p:spPr>
          <a:xfrm>
            <a:off x="640080" y="841248"/>
            <a:ext cx="10881360" cy="1005840"/>
          </a:xfrm>
          <a:prstGeom prst="rect">
            <a:avLst/>
          </a:prstGeom>
          <a:noFill/>
          <a:ln/>
        </p:spPr>
        <p:txBody>
          <a:bodyPr wrap="square" lIns="0" tIns="0" rIns="0" bIns="0" rtlCol="0" anchor="ctr"/>
          <a:lstStyle/>
          <a:p>
            <a:pPr indent="0" marL="0">
              <a:buNone/>
            </a:pPr>
            <a:r>
              <a:rPr lang="en-US" sz="3300" b="1" dirty="0">
                <a:solidFill>
                  <a:srgbClr val="1E2761"/>
                </a:solidFill>
                <a:latin typeface="Cambria" pitchFamily="34" charset="0"/>
                <a:ea typeface="Cambria" pitchFamily="34" charset="-122"/>
                <a:cs typeface="Cambria" pitchFamily="34" charset="-120"/>
              </a:rPr>
              <a:t>Automated job tools optimize for the wrong thing</a:t>
            </a:r>
            <a:endParaRPr lang="en-US" sz="3300" dirty="0"/>
          </a:p>
        </p:txBody>
      </p:sp>
      <p:sp>
        <p:nvSpPr>
          <p:cNvPr id="4" name="Shape 2"/>
          <p:cNvSpPr/>
          <p:nvPr/>
        </p:nvSpPr>
        <p:spPr>
          <a:xfrm>
            <a:off x="640080" y="1965960"/>
            <a:ext cx="10881360" cy="1234440"/>
          </a:xfrm>
          <a:prstGeom prst="roundRect">
            <a:avLst>
              <a:gd name="adj" fmla="val 6667"/>
            </a:avLst>
          </a:prstGeom>
          <a:solidFill>
            <a:srgbClr val="FFFFFF"/>
          </a:solidFill>
          <a:ln/>
          <a:effectLst>
            <a:outerShdw sx="100000" sy="100000" kx="0" ky="0" algn="bl" rotWithShape="0" blurRad="88900" dist="38100" dir="5400000">
              <a:srgbClr val="9AA6BF">
                <a:alpha val="28000"/>
              </a:srgbClr>
            </a:outerShdw>
          </a:effectLst>
        </p:spPr>
      </p:sp>
      <p:sp>
        <p:nvSpPr>
          <p:cNvPr id="5" name="Shape 3"/>
          <p:cNvSpPr/>
          <p:nvPr/>
        </p:nvSpPr>
        <p:spPr>
          <a:xfrm>
            <a:off x="914400" y="2258568"/>
            <a:ext cx="640080" cy="640080"/>
          </a:xfrm>
          <a:prstGeom prst="ellipse">
            <a:avLst/>
          </a:prstGeom>
          <a:solidFill>
            <a:srgbClr val="F96167"/>
          </a:solidFill>
          <a:ln/>
        </p:spPr>
      </p:sp>
      <p:sp>
        <p:nvSpPr>
          <p:cNvPr id="6" name="Text 4"/>
          <p:cNvSpPr/>
          <p:nvPr/>
        </p:nvSpPr>
        <p:spPr>
          <a:xfrm>
            <a:off x="914400" y="2258568"/>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1828800" y="2112264"/>
            <a:ext cx="9326880" cy="411480"/>
          </a:xfrm>
          <a:prstGeom prst="rect">
            <a:avLst/>
          </a:prstGeom>
          <a:noFill/>
          <a:ln/>
        </p:spPr>
        <p:txBody>
          <a:bodyPr wrap="square" lIns="0" tIns="0" rIns="0" bIns="0" rtlCol="0" anchor="ctr"/>
          <a:lstStyle/>
          <a:p>
            <a:pPr indent="0" marL="0">
              <a:buNone/>
            </a:pPr>
            <a:r>
              <a:rPr lang="en-US" sz="1900" b="1" dirty="0">
                <a:solidFill>
                  <a:srgbClr val="1E2761"/>
                </a:solidFill>
                <a:latin typeface="Cambria" pitchFamily="34" charset="0"/>
                <a:ea typeface="Cambria" pitchFamily="34" charset="-122"/>
                <a:cs typeface="Cambria" pitchFamily="34" charset="-120"/>
              </a:rPr>
              <a:t>Volume over fit</a:t>
            </a:r>
            <a:endParaRPr lang="en-US" sz="1900" dirty="0"/>
          </a:p>
        </p:txBody>
      </p:sp>
      <p:sp>
        <p:nvSpPr>
          <p:cNvPr id="8" name="Text 6"/>
          <p:cNvSpPr/>
          <p:nvPr/>
        </p:nvSpPr>
        <p:spPr>
          <a:xfrm>
            <a:off x="1828800" y="2532888"/>
            <a:ext cx="9418320" cy="548640"/>
          </a:xfrm>
          <a:prstGeom prst="rect">
            <a:avLst/>
          </a:prstGeom>
          <a:noFill/>
          <a:ln/>
        </p:spPr>
        <p:txBody>
          <a:bodyPr wrap="square" lIns="0" tIns="0" rIns="0" bIns="0" rtlCol="0" anchor="ctr"/>
          <a:lstStyle/>
          <a:p>
            <a:pPr indent="0" marL="0">
              <a:buNone/>
            </a:pPr>
            <a:r>
              <a:rPr lang="en-US" sz="1400" dirty="0">
                <a:solidFill>
                  <a:srgbClr val="5B6472"/>
                </a:solidFill>
                <a:latin typeface="Calibri" pitchFamily="34" charset="0"/>
                <a:ea typeface="Calibri" pitchFamily="34" charset="-122"/>
                <a:cs typeface="Calibri" pitchFamily="34" charset="-120"/>
              </a:rPr>
              <a:t>“Apply to 1,000 jobs in two days.” The result is spam that hiring managers can smell, and your name is on it.</a:t>
            </a:r>
            <a:endParaRPr lang="en-US" sz="1400" dirty="0"/>
          </a:p>
        </p:txBody>
      </p:sp>
      <p:sp>
        <p:nvSpPr>
          <p:cNvPr id="9" name="Shape 7"/>
          <p:cNvSpPr/>
          <p:nvPr/>
        </p:nvSpPr>
        <p:spPr>
          <a:xfrm>
            <a:off x="640080" y="3383280"/>
            <a:ext cx="10881360" cy="1234440"/>
          </a:xfrm>
          <a:prstGeom prst="roundRect">
            <a:avLst>
              <a:gd name="adj" fmla="val 6667"/>
            </a:avLst>
          </a:prstGeom>
          <a:solidFill>
            <a:srgbClr val="FFFFFF"/>
          </a:solidFill>
          <a:ln/>
          <a:effectLst>
            <a:outerShdw sx="100000" sy="100000" kx="0" ky="0" algn="bl" rotWithShape="0" blurRad="88900" dist="38100" dir="5400000">
              <a:srgbClr val="9AA6BF">
                <a:alpha val="28000"/>
              </a:srgbClr>
            </a:outerShdw>
          </a:effectLst>
        </p:spPr>
      </p:sp>
      <p:sp>
        <p:nvSpPr>
          <p:cNvPr id="10" name="Shape 8"/>
          <p:cNvSpPr/>
          <p:nvPr/>
        </p:nvSpPr>
        <p:spPr>
          <a:xfrm>
            <a:off x="914400" y="3675888"/>
            <a:ext cx="640080" cy="640080"/>
          </a:xfrm>
          <a:prstGeom prst="ellipse">
            <a:avLst/>
          </a:prstGeom>
          <a:solidFill>
            <a:srgbClr val="F96167"/>
          </a:solidFill>
          <a:ln/>
        </p:spPr>
      </p:sp>
      <p:sp>
        <p:nvSpPr>
          <p:cNvPr id="11" name="Text 9"/>
          <p:cNvSpPr/>
          <p:nvPr/>
        </p:nvSpPr>
        <p:spPr>
          <a:xfrm>
            <a:off x="914400" y="3675888"/>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2" name="Text 10"/>
          <p:cNvSpPr/>
          <p:nvPr/>
        </p:nvSpPr>
        <p:spPr>
          <a:xfrm>
            <a:off x="1828800" y="3529584"/>
            <a:ext cx="9326880" cy="411480"/>
          </a:xfrm>
          <a:prstGeom prst="rect">
            <a:avLst/>
          </a:prstGeom>
          <a:noFill/>
          <a:ln/>
        </p:spPr>
        <p:txBody>
          <a:bodyPr wrap="square" lIns="0" tIns="0" rIns="0" bIns="0" rtlCol="0" anchor="ctr"/>
          <a:lstStyle/>
          <a:p>
            <a:pPr indent="0" marL="0">
              <a:buNone/>
            </a:pPr>
            <a:r>
              <a:rPr lang="en-US" sz="1900" b="1" dirty="0">
                <a:solidFill>
                  <a:srgbClr val="1E2761"/>
                </a:solidFill>
                <a:latin typeface="Cambria" pitchFamily="34" charset="0"/>
                <a:ea typeface="Cambria" pitchFamily="34" charset="-122"/>
                <a:cs typeface="Cambria" pitchFamily="34" charset="-120"/>
              </a:rPr>
              <a:t>Terms broken for you</a:t>
            </a:r>
            <a:endParaRPr lang="en-US" sz="1900" dirty="0"/>
          </a:p>
        </p:txBody>
      </p:sp>
      <p:sp>
        <p:nvSpPr>
          <p:cNvPr id="13" name="Text 11"/>
          <p:cNvSpPr/>
          <p:nvPr/>
        </p:nvSpPr>
        <p:spPr>
          <a:xfrm>
            <a:off x="1828800" y="3950208"/>
            <a:ext cx="9418320" cy="548640"/>
          </a:xfrm>
          <a:prstGeom prst="rect">
            <a:avLst/>
          </a:prstGeom>
          <a:noFill/>
          <a:ln/>
        </p:spPr>
        <p:txBody>
          <a:bodyPr wrap="square" lIns="0" tIns="0" rIns="0" bIns="0" rtlCol="0" anchor="ctr"/>
          <a:lstStyle/>
          <a:p>
            <a:pPr indent="0" marL="0">
              <a:buNone/>
            </a:pPr>
            <a:r>
              <a:rPr lang="en-US" sz="1400" dirty="0">
                <a:solidFill>
                  <a:srgbClr val="5B6472"/>
                </a:solidFill>
                <a:latin typeface="Calibri" pitchFamily="34" charset="0"/>
                <a:ea typeface="Calibri" pitchFamily="34" charset="-122"/>
                <a:cs typeface="Calibri" pitchFamily="34" charset="-120"/>
              </a:rPr>
              <a:t>Scraping behind logins, solving CAPTCHAs, auto-filling forms. Convenience that violates the sites' rules on your behalf.</a:t>
            </a:r>
            <a:endParaRPr lang="en-US" sz="1400" dirty="0"/>
          </a:p>
        </p:txBody>
      </p:sp>
      <p:sp>
        <p:nvSpPr>
          <p:cNvPr id="14" name="Shape 12"/>
          <p:cNvSpPr/>
          <p:nvPr/>
        </p:nvSpPr>
        <p:spPr>
          <a:xfrm>
            <a:off x="640080" y="4800600"/>
            <a:ext cx="10881360" cy="1234440"/>
          </a:xfrm>
          <a:prstGeom prst="roundRect">
            <a:avLst>
              <a:gd name="adj" fmla="val 6667"/>
            </a:avLst>
          </a:prstGeom>
          <a:solidFill>
            <a:srgbClr val="FFFFFF"/>
          </a:solidFill>
          <a:ln/>
          <a:effectLst>
            <a:outerShdw sx="100000" sy="100000" kx="0" ky="0" algn="bl" rotWithShape="0" blurRad="88900" dist="38100" dir="5400000">
              <a:srgbClr val="9AA6BF">
                <a:alpha val="28000"/>
              </a:srgbClr>
            </a:outerShdw>
          </a:effectLst>
        </p:spPr>
      </p:sp>
      <p:sp>
        <p:nvSpPr>
          <p:cNvPr id="15" name="Shape 13"/>
          <p:cNvSpPr/>
          <p:nvPr/>
        </p:nvSpPr>
        <p:spPr>
          <a:xfrm>
            <a:off x="914400" y="5093208"/>
            <a:ext cx="640080" cy="640080"/>
          </a:xfrm>
          <a:prstGeom prst="ellipse">
            <a:avLst/>
          </a:prstGeom>
          <a:solidFill>
            <a:srgbClr val="F96167"/>
          </a:solidFill>
          <a:ln/>
        </p:spPr>
      </p:sp>
      <p:sp>
        <p:nvSpPr>
          <p:cNvPr id="16" name="Text 14"/>
          <p:cNvSpPr/>
          <p:nvPr/>
        </p:nvSpPr>
        <p:spPr>
          <a:xfrm>
            <a:off x="914400" y="5093208"/>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7" name="Text 15"/>
          <p:cNvSpPr/>
          <p:nvPr/>
        </p:nvSpPr>
        <p:spPr>
          <a:xfrm>
            <a:off x="1828800" y="4946904"/>
            <a:ext cx="9326880" cy="411480"/>
          </a:xfrm>
          <a:prstGeom prst="rect">
            <a:avLst/>
          </a:prstGeom>
          <a:noFill/>
          <a:ln/>
        </p:spPr>
        <p:txBody>
          <a:bodyPr wrap="square" lIns="0" tIns="0" rIns="0" bIns="0" rtlCol="0" anchor="ctr"/>
          <a:lstStyle/>
          <a:p>
            <a:pPr indent="0" marL="0">
              <a:buNone/>
            </a:pPr>
            <a:r>
              <a:rPr lang="en-US" sz="1900" b="1" dirty="0">
                <a:solidFill>
                  <a:srgbClr val="1E2761"/>
                </a:solidFill>
                <a:latin typeface="Cambria" pitchFamily="34" charset="0"/>
                <a:ea typeface="Cambria" pitchFamily="34" charset="-122"/>
                <a:cs typeface="Cambria" pitchFamily="34" charset="-120"/>
              </a:rPr>
              <a:t>Resumes that drift</a:t>
            </a:r>
            <a:endParaRPr lang="en-US" sz="1900" dirty="0"/>
          </a:p>
        </p:txBody>
      </p:sp>
      <p:sp>
        <p:nvSpPr>
          <p:cNvPr id="18" name="Text 16"/>
          <p:cNvSpPr/>
          <p:nvPr/>
        </p:nvSpPr>
        <p:spPr>
          <a:xfrm>
            <a:off x="1828800" y="5367528"/>
            <a:ext cx="9418320" cy="548640"/>
          </a:xfrm>
          <a:prstGeom prst="rect">
            <a:avLst/>
          </a:prstGeom>
          <a:noFill/>
          <a:ln/>
        </p:spPr>
        <p:txBody>
          <a:bodyPr wrap="square" lIns="0" tIns="0" rIns="0" bIns="0" rtlCol="0" anchor="ctr"/>
          <a:lstStyle/>
          <a:p>
            <a:pPr indent="0" marL="0">
              <a:buNone/>
            </a:pPr>
            <a:r>
              <a:rPr lang="en-US" sz="1400" dirty="0">
                <a:solidFill>
                  <a:srgbClr val="5B6472"/>
                </a:solidFill>
                <a:latin typeface="Calibri" pitchFamily="34" charset="0"/>
                <a:ea typeface="Calibri" pitchFamily="34" charset="-122"/>
                <a:cs typeface="Calibri" pitchFamily="34" charset="-120"/>
              </a:rPr>
              <a:t>Each tailored pass nudges the resume further from the truth, until it says things you'd have to walk back in an interview.</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640080" y="502920"/>
            <a:ext cx="7315200" cy="36576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THE BET</a:t>
            </a:r>
            <a:endParaRPr lang="en-US" sz="1300" dirty="0"/>
          </a:p>
        </p:txBody>
      </p:sp>
      <p:sp>
        <p:nvSpPr>
          <p:cNvPr id="3" name="Text 1"/>
          <p:cNvSpPr/>
          <p:nvPr/>
        </p:nvSpPr>
        <p:spPr>
          <a:xfrm>
            <a:off x="640080" y="841248"/>
            <a:ext cx="10881360" cy="1005840"/>
          </a:xfrm>
          <a:prstGeom prst="rect">
            <a:avLst/>
          </a:prstGeom>
          <a:noFill/>
          <a:ln/>
        </p:spPr>
        <p:txBody>
          <a:bodyPr wrap="square" lIns="0" tIns="0" rIns="0" bIns="0" rtlCol="0" anchor="ctr"/>
          <a:lstStyle/>
          <a:p>
            <a:pPr indent="0" marL="0">
              <a:buNone/>
            </a:pPr>
            <a:r>
              <a:rPr lang="en-US" sz="3300" b="1" dirty="0">
                <a:solidFill>
                  <a:srgbClr val="FFFFFF"/>
                </a:solidFill>
                <a:latin typeface="Cambria" pitchFamily="34" charset="0"/>
                <a:ea typeface="Cambria" pitchFamily="34" charset="-122"/>
                <a:cs typeface="Cambria" pitchFamily="34" charset="-120"/>
              </a:rPr>
              <a:t>It earns trust by refusing the easy wins</a:t>
            </a:r>
            <a:endParaRPr lang="en-US" sz="3300" dirty="0"/>
          </a:p>
        </p:txBody>
      </p:sp>
      <p:sp>
        <p:nvSpPr>
          <p:cNvPr id="4" name="Shape 2"/>
          <p:cNvSpPr/>
          <p:nvPr/>
        </p:nvSpPr>
        <p:spPr>
          <a:xfrm>
            <a:off x="640080" y="2057400"/>
            <a:ext cx="5257800" cy="1691640"/>
          </a:xfrm>
          <a:prstGeom prst="roundRect">
            <a:avLst>
              <a:gd name="adj" fmla="val 4865"/>
            </a:avLst>
          </a:prstGeom>
          <a:solidFill>
            <a:srgbClr val="2A3573"/>
          </a:solidFill>
          <a:ln/>
          <a:effectLst>
            <a:outerShdw sx="100000" sy="100000" kx="0" ky="0" algn="bl" rotWithShape="0" blurRad="88900" dist="38100" dir="5400000">
              <a:srgbClr val="9AA6BF">
                <a:alpha val="28000"/>
              </a:srgbClr>
            </a:outerShdw>
          </a:effectLst>
        </p:spPr>
      </p:sp>
      <p:sp>
        <p:nvSpPr>
          <p:cNvPr id="5" name="Shape 3"/>
          <p:cNvSpPr/>
          <p:nvPr/>
        </p:nvSpPr>
        <p:spPr>
          <a:xfrm>
            <a:off x="932688" y="2368296"/>
            <a:ext cx="566928" cy="566928"/>
          </a:xfrm>
          <a:prstGeom prst="ellipse">
            <a:avLst/>
          </a:prstGeom>
          <a:solidFill>
            <a:srgbClr val="02C39A"/>
          </a:solidFill>
          <a:ln/>
        </p:spPr>
      </p:sp>
      <p:sp>
        <p:nvSpPr>
          <p:cNvPr id="6" name="Text 4"/>
          <p:cNvSpPr/>
          <p:nvPr/>
        </p:nvSpPr>
        <p:spPr>
          <a:xfrm>
            <a:off x="932688" y="2368296"/>
            <a:ext cx="566928" cy="566928"/>
          </a:xfrm>
          <a:prstGeom prst="rect">
            <a:avLst/>
          </a:prstGeom>
          <a:noFill/>
          <a:ln/>
        </p:spPr>
        <p:txBody>
          <a:bodyPr wrap="square" lIns="0" tIns="0" rIns="0" bIns="0" rtlCol="0" anchor="ctr"/>
          <a:lstStyle/>
          <a:p>
            <a:pPr algn="ctr" indent="0" marL="0">
              <a:buNone/>
            </a:pPr>
            <a:r>
              <a:rPr lang="en-US" sz="2000" b="1" dirty="0">
                <a:solidFill>
                  <a:srgbClr val="1E2761"/>
                </a:solidFill>
                <a:latin typeface="Cambria" pitchFamily="34" charset="0"/>
                <a:ea typeface="Cambria" pitchFamily="34" charset="-122"/>
                <a:cs typeface="Cambria" pitchFamily="34" charset="-120"/>
              </a:rPr>
              <a:t>✓</a:t>
            </a:r>
            <a:endParaRPr lang="en-US" sz="2000" dirty="0"/>
          </a:p>
        </p:txBody>
      </p:sp>
      <p:sp>
        <p:nvSpPr>
          <p:cNvPr id="7" name="Text 5"/>
          <p:cNvSpPr/>
          <p:nvPr/>
        </p:nvSpPr>
        <p:spPr>
          <a:xfrm>
            <a:off x="1691640" y="2350008"/>
            <a:ext cx="4023360" cy="6858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A human applies</a:t>
            </a:r>
            <a:endParaRPr lang="en-US" sz="1800" dirty="0"/>
          </a:p>
        </p:txBody>
      </p:sp>
      <p:sp>
        <p:nvSpPr>
          <p:cNvPr id="8" name="Text 6"/>
          <p:cNvSpPr/>
          <p:nvPr/>
        </p:nvSpPr>
        <p:spPr>
          <a:xfrm>
            <a:off x="960120" y="3017520"/>
            <a:ext cx="4709160" cy="640080"/>
          </a:xfrm>
          <a:prstGeom prst="rect">
            <a:avLst/>
          </a:prstGeom>
          <a:noFill/>
          <a:ln/>
        </p:spPr>
        <p:txBody>
          <a:bodyPr wrap="square" lIns="0" tIns="0" rIns="0" bIns="0" rtlCol="0" anchor="ctr"/>
          <a:lstStyle/>
          <a:p>
            <a:pPr indent="0" marL="0">
              <a:buNone/>
            </a:pPr>
            <a:r>
              <a:rPr lang="en-US" sz="1350" dirty="0">
                <a:solidFill>
                  <a:srgbClr val="CADCFC"/>
                </a:solidFill>
                <a:latin typeface="Calibri" pitchFamily="34" charset="0"/>
                <a:ea typeface="Calibri" pitchFamily="34" charset="-122"/>
                <a:cs typeface="Calibri" pitchFamily="34" charset="-120"/>
              </a:rPr>
              <a:t>It drafts. You read, edit, and send. It never submits.</a:t>
            </a:r>
            <a:endParaRPr lang="en-US" sz="1350" dirty="0"/>
          </a:p>
        </p:txBody>
      </p:sp>
      <p:sp>
        <p:nvSpPr>
          <p:cNvPr id="9" name="Shape 7"/>
          <p:cNvSpPr/>
          <p:nvPr/>
        </p:nvSpPr>
        <p:spPr>
          <a:xfrm>
            <a:off x="6172200" y="2057400"/>
            <a:ext cx="5257800" cy="1691640"/>
          </a:xfrm>
          <a:prstGeom prst="roundRect">
            <a:avLst>
              <a:gd name="adj" fmla="val 4865"/>
            </a:avLst>
          </a:prstGeom>
          <a:solidFill>
            <a:srgbClr val="2A3573"/>
          </a:solidFill>
          <a:ln/>
          <a:effectLst>
            <a:outerShdw sx="100000" sy="100000" kx="0" ky="0" algn="bl" rotWithShape="0" blurRad="88900" dist="38100" dir="5400000">
              <a:srgbClr val="9AA6BF">
                <a:alpha val="28000"/>
              </a:srgbClr>
            </a:outerShdw>
          </a:effectLst>
        </p:spPr>
      </p:sp>
      <p:sp>
        <p:nvSpPr>
          <p:cNvPr id="10" name="Shape 8"/>
          <p:cNvSpPr/>
          <p:nvPr/>
        </p:nvSpPr>
        <p:spPr>
          <a:xfrm>
            <a:off x="6464808" y="2368296"/>
            <a:ext cx="566928" cy="566928"/>
          </a:xfrm>
          <a:prstGeom prst="ellipse">
            <a:avLst/>
          </a:prstGeom>
          <a:solidFill>
            <a:srgbClr val="02C39A"/>
          </a:solidFill>
          <a:ln/>
        </p:spPr>
      </p:sp>
      <p:sp>
        <p:nvSpPr>
          <p:cNvPr id="11" name="Text 9"/>
          <p:cNvSpPr/>
          <p:nvPr/>
        </p:nvSpPr>
        <p:spPr>
          <a:xfrm>
            <a:off x="6464808" y="2368296"/>
            <a:ext cx="566928" cy="566928"/>
          </a:xfrm>
          <a:prstGeom prst="rect">
            <a:avLst/>
          </a:prstGeom>
          <a:noFill/>
          <a:ln/>
        </p:spPr>
        <p:txBody>
          <a:bodyPr wrap="square" lIns="0" tIns="0" rIns="0" bIns="0" rtlCol="0" anchor="ctr"/>
          <a:lstStyle/>
          <a:p>
            <a:pPr algn="ctr" indent="0" marL="0">
              <a:buNone/>
            </a:pPr>
            <a:r>
              <a:rPr lang="en-US" sz="2000" b="1" dirty="0">
                <a:solidFill>
                  <a:srgbClr val="1E2761"/>
                </a:solidFill>
                <a:latin typeface="Cambria" pitchFamily="34" charset="0"/>
                <a:ea typeface="Cambria" pitchFamily="34" charset="-122"/>
                <a:cs typeface="Cambria" pitchFamily="34" charset="-120"/>
              </a:rPr>
              <a:t>✓</a:t>
            </a:r>
            <a:endParaRPr lang="en-US" sz="2000" dirty="0"/>
          </a:p>
        </p:txBody>
      </p:sp>
      <p:sp>
        <p:nvSpPr>
          <p:cNvPr id="12" name="Text 10"/>
          <p:cNvSpPr/>
          <p:nvPr/>
        </p:nvSpPr>
        <p:spPr>
          <a:xfrm>
            <a:off x="7223760" y="2350008"/>
            <a:ext cx="4023360" cy="6858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Truth, reorganized</a:t>
            </a:r>
            <a:endParaRPr lang="en-US" sz="1800" dirty="0"/>
          </a:p>
        </p:txBody>
      </p:sp>
      <p:sp>
        <p:nvSpPr>
          <p:cNvPr id="13" name="Text 11"/>
          <p:cNvSpPr/>
          <p:nvPr/>
        </p:nvSpPr>
        <p:spPr>
          <a:xfrm>
            <a:off x="6492240" y="3017520"/>
            <a:ext cx="4709160" cy="640080"/>
          </a:xfrm>
          <a:prstGeom prst="rect">
            <a:avLst/>
          </a:prstGeom>
          <a:noFill/>
          <a:ln/>
        </p:spPr>
        <p:txBody>
          <a:bodyPr wrap="square" lIns="0" tIns="0" rIns="0" bIns="0" rtlCol="0" anchor="ctr"/>
          <a:lstStyle/>
          <a:p>
            <a:pPr indent="0" marL="0">
              <a:buNone/>
            </a:pPr>
            <a:r>
              <a:rPr lang="en-US" sz="1350" dirty="0">
                <a:solidFill>
                  <a:srgbClr val="CADCFC"/>
                </a:solidFill>
                <a:latin typeface="Calibri" pitchFamily="34" charset="0"/>
                <a:ea typeface="Calibri" pitchFamily="34" charset="-122"/>
                <a:cs typeface="Calibri" pitchFamily="34" charset="-120"/>
              </a:rPr>
              <a:t>Resumes are tailored by cutting and reordering, never by inventing.</a:t>
            </a:r>
            <a:endParaRPr lang="en-US" sz="1350" dirty="0"/>
          </a:p>
        </p:txBody>
      </p:sp>
      <p:sp>
        <p:nvSpPr>
          <p:cNvPr id="14" name="Shape 12"/>
          <p:cNvSpPr/>
          <p:nvPr/>
        </p:nvSpPr>
        <p:spPr>
          <a:xfrm>
            <a:off x="640080" y="4023360"/>
            <a:ext cx="5257800" cy="1691640"/>
          </a:xfrm>
          <a:prstGeom prst="roundRect">
            <a:avLst>
              <a:gd name="adj" fmla="val 4865"/>
            </a:avLst>
          </a:prstGeom>
          <a:solidFill>
            <a:srgbClr val="2A3573"/>
          </a:solidFill>
          <a:ln/>
          <a:effectLst>
            <a:outerShdw sx="100000" sy="100000" kx="0" ky="0" algn="bl" rotWithShape="0" blurRad="88900" dist="38100" dir="5400000">
              <a:srgbClr val="9AA6BF">
                <a:alpha val="28000"/>
              </a:srgbClr>
            </a:outerShdw>
          </a:effectLst>
        </p:spPr>
      </p:sp>
      <p:sp>
        <p:nvSpPr>
          <p:cNvPr id="15" name="Shape 13"/>
          <p:cNvSpPr/>
          <p:nvPr/>
        </p:nvSpPr>
        <p:spPr>
          <a:xfrm>
            <a:off x="932688" y="4334256"/>
            <a:ext cx="566928" cy="566928"/>
          </a:xfrm>
          <a:prstGeom prst="ellipse">
            <a:avLst/>
          </a:prstGeom>
          <a:solidFill>
            <a:srgbClr val="02C39A"/>
          </a:solidFill>
          <a:ln/>
        </p:spPr>
      </p:sp>
      <p:sp>
        <p:nvSpPr>
          <p:cNvPr id="16" name="Text 14"/>
          <p:cNvSpPr/>
          <p:nvPr/>
        </p:nvSpPr>
        <p:spPr>
          <a:xfrm>
            <a:off x="932688" y="4334256"/>
            <a:ext cx="566928" cy="566928"/>
          </a:xfrm>
          <a:prstGeom prst="rect">
            <a:avLst/>
          </a:prstGeom>
          <a:noFill/>
          <a:ln/>
        </p:spPr>
        <p:txBody>
          <a:bodyPr wrap="square" lIns="0" tIns="0" rIns="0" bIns="0" rtlCol="0" anchor="ctr"/>
          <a:lstStyle/>
          <a:p>
            <a:pPr algn="ctr" indent="0" marL="0">
              <a:buNone/>
            </a:pPr>
            <a:r>
              <a:rPr lang="en-US" sz="2000" b="1" dirty="0">
                <a:solidFill>
                  <a:srgbClr val="1E2761"/>
                </a:solidFill>
                <a:latin typeface="Cambria" pitchFamily="34" charset="0"/>
                <a:ea typeface="Cambria" pitchFamily="34" charset="-122"/>
                <a:cs typeface="Cambria" pitchFamily="34" charset="-120"/>
              </a:rPr>
              <a:t>✓</a:t>
            </a:r>
            <a:endParaRPr lang="en-US" sz="2000" dirty="0"/>
          </a:p>
        </p:txBody>
      </p:sp>
      <p:sp>
        <p:nvSpPr>
          <p:cNvPr id="17" name="Text 15"/>
          <p:cNvSpPr/>
          <p:nvPr/>
        </p:nvSpPr>
        <p:spPr>
          <a:xfrm>
            <a:off x="1691640" y="4315968"/>
            <a:ext cx="4023360" cy="6858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A number may rank, never rule</a:t>
            </a:r>
            <a:endParaRPr lang="en-US" sz="1800" dirty="0"/>
          </a:p>
        </p:txBody>
      </p:sp>
      <p:sp>
        <p:nvSpPr>
          <p:cNvPr id="18" name="Text 16"/>
          <p:cNvSpPr/>
          <p:nvPr/>
        </p:nvSpPr>
        <p:spPr>
          <a:xfrm>
            <a:off x="960120" y="4983480"/>
            <a:ext cx="4709160" cy="640080"/>
          </a:xfrm>
          <a:prstGeom prst="rect">
            <a:avLst/>
          </a:prstGeom>
          <a:noFill/>
          <a:ln/>
        </p:spPr>
        <p:txBody>
          <a:bodyPr wrap="square" lIns="0" tIns="0" rIns="0" bIns="0" rtlCol="0" anchor="ctr"/>
          <a:lstStyle/>
          <a:p>
            <a:pPr indent="0" marL="0">
              <a:buNone/>
            </a:pPr>
            <a:r>
              <a:rPr lang="en-US" sz="1350" dirty="0">
                <a:solidFill>
                  <a:srgbClr val="CADCFC"/>
                </a:solidFill>
                <a:latin typeface="Calibri" pitchFamily="34" charset="0"/>
                <a:ea typeface="Calibri" pitchFamily="34" charset="-122"/>
                <a:cs typeface="Calibri" pitchFamily="34" charset="-120"/>
              </a:rPr>
              <a:t>Fit is shown as sub-scores with a named gap, not a lab-coat percentage.</a:t>
            </a:r>
            <a:endParaRPr lang="en-US" sz="1350" dirty="0"/>
          </a:p>
        </p:txBody>
      </p:sp>
      <p:sp>
        <p:nvSpPr>
          <p:cNvPr id="19" name="Shape 17"/>
          <p:cNvSpPr/>
          <p:nvPr/>
        </p:nvSpPr>
        <p:spPr>
          <a:xfrm>
            <a:off x="6172200" y="4023360"/>
            <a:ext cx="5257800" cy="1691640"/>
          </a:xfrm>
          <a:prstGeom prst="roundRect">
            <a:avLst>
              <a:gd name="adj" fmla="val 4865"/>
            </a:avLst>
          </a:prstGeom>
          <a:solidFill>
            <a:srgbClr val="2A3573"/>
          </a:solidFill>
          <a:ln/>
          <a:effectLst>
            <a:outerShdw sx="100000" sy="100000" kx="0" ky="0" algn="bl" rotWithShape="0" blurRad="88900" dist="38100" dir="5400000">
              <a:srgbClr val="9AA6BF">
                <a:alpha val="28000"/>
              </a:srgbClr>
            </a:outerShdw>
          </a:effectLst>
        </p:spPr>
      </p:sp>
      <p:sp>
        <p:nvSpPr>
          <p:cNvPr id="20" name="Shape 18"/>
          <p:cNvSpPr/>
          <p:nvPr/>
        </p:nvSpPr>
        <p:spPr>
          <a:xfrm>
            <a:off x="6464808" y="4334256"/>
            <a:ext cx="566928" cy="566928"/>
          </a:xfrm>
          <a:prstGeom prst="ellipse">
            <a:avLst/>
          </a:prstGeom>
          <a:solidFill>
            <a:srgbClr val="02C39A"/>
          </a:solidFill>
          <a:ln/>
        </p:spPr>
      </p:sp>
      <p:sp>
        <p:nvSpPr>
          <p:cNvPr id="21" name="Text 19"/>
          <p:cNvSpPr/>
          <p:nvPr/>
        </p:nvSpPr>
        <p:spPr>
          <a:xfrm>
            <a:off x="6464808" y="4334256"/>
            <a:ext cx="566928" cy="566928"/>
          </a:xfrm>
          <a:prstGeom prst="rect">
            <a:avLst/>
          </a:prstGeom>
          <a:noFill/>
          <a:ln/>
        </p:spPr>
        <p:txBody>
          <a:bodyPr wrap="square" lIns="0" tIns="0" rIns="0" bIns="0" rtlCol="0" anchor="ctr"/>
          <a:lstStyle/>
          <a:p>
            <a:pPr algn="ctr" indent="0" marL="0">
              <a:buNone/>
            </a:pPr>
            <a:r>
              <a:rPr lang="en-US" sz="2000" b="1" dirty="0">
                <a:solidFill>
                  <a:srgbClr val="1E2761"/>
                </a:solidFill>
                <a:latin typeface="Cambria" pitchFamily="34" charset="0"/>
                <a:ea typeface="Cambria" pitchFamily="34" charset="-122"/>
                <a:cs typeface="Cambria" pitchFamily="34" charset="-120"/>
              </a:rPr>
              <a:t>✓</a:t>
            </a:r>
            <a:endParaRPr lang="en-US" sz="2000" dirty="0"/>
          </a:p>
        </p:txBody>
      </p:sp>
      <p:sp>
        <p:nvSpPr>
          <p:cNvPr id="22" name="Text 20"/>
          <p:cNvSpPr/>
          <p:nvPr/>
        </p:nvSpPr>
        <p:spPr>
          <a:xfrm>
            <a:off x="7223760" y="4315968"/>
            <a:ext cx="4023360" cy="6858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Thin days told honestly</a:t>
            </a:r>
            <a:endParaRPr lang="en-US" sz="1800" dirty="0"/>
          </a:p>
        </p:txBody>
      </p:sp>
      <p:sp>
        <p:nvSpPr>
          <p:cNvPr id="23" name="Text 21"/>
          <p:cNvSpPr/>
          <p:nvPr/>
        </p:nvSpPr>
        <p:spPr>
          <a:xfrm>
            <a:off x="6492240" y="4983480"/>
            <a:ext cx="4709160" cy="640080"/>
          </a:xfrm>
          <a:prstGeom prst="rect">
            <a:avLst/>
          </a:prstGeom>
          <a:noFill/>
          <a:ln/>
        </p:spPr>
        <p:txBody>
          <a:bodyPr wrap="square" lIns="0" tIns="0" rIns="0" bIns="0" rtlCol="0" anchor="ctr"/>
          <a:lstStyle/>
          <a:p>
            <a:pPr indent="0" marL="0">
              <a:buNone/>
            </a:pPr>
            <a:r>
              <a:rPr lang="en-US" sz="1350" dirty="0">
                <a:solidFill>
                  <a:srgbClr val="CADCFC"/>
                </a:solidFill>
                <a:latin typeface="Calibri" pitchFamily="34" charset="0"/>
                <a:ea typeface="Calibri" pitchFamily="34" charset="-122"/>
                <a:cs typeface="Calibri" pitchFamily="34" charset="-120"/>
              </a:rPr>
              <a:t>Most mornings there is nothing new, and it says so.</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640080" y="502920"/>
            <a:ext cx="7315200" cy="36576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WHAT'S INSIDE</a:t>
            </a:r>
            <a:endParaRPr lang="en-US" sz="1300" dirty="0"/>
          </a:p>
        </p:txBody>
      </p:sp>
      <p:sp>
        <p:nvSpPr>
          <p:cNvPr id="3" name="Text 1"/>
          <p:cNvSpPr/>
          <p:nvPr/>
        </p:nvSpPr>
        <p:spPr>
          <a:xfrm>
            <a:off x="640080" y="841248"/>
            <a:ext cx="10881360" cy="1005840"/>
          </a:xfrm>
          <a:prstGeom prst="rect">
            <a:avLst/>
          </a:prstGeom>
          <a:noFill/>
          <a:ln/>
        </p:spPr>
        <p:txBody>
          <a:bodyPr wrap="square" lIns="0" tIns="0" rIns="0" bIns="0" rtlCol="0" anchor="ctr"/>
          <a:lstStyle/>
          <a:p>
            <a:pPr indent="0" marL="0">
              <a:buNone/>
            </a:pPr>
            <a:r>
              <a:rPr lang="en-US" sz="3300" b="1" dirty="0">
                <a:solidFill>
                  <a:srgbClr val="1E2761"/>
                </a:solidFill>
                <a:latin typeface="Cambria" pitchFamily="34" charset="0"/>
                <a:ea typeface="Cambria" pitchFamily="34" charset="-122"/>
                <a:cs typeface="Cambria" pitchFamily="34" charset="-120"/>
              </a:rPr>
              <a:t>Three skills, one honest search</a:t>
            </a:r>
            <a:endParaRPr lang="en-US" sz="3300" dirty="0"/>
          </a:p>
        </p:txBody>
      </p:sp>
      <p:sp>
        <p:nvSpPr>
          <p:cNvPr id="4" name="Shape 2"/>
          <p:cNvSpPr/>
          <p:nvPr/>
        </p:nvSpPr>
        <p:spPr>
          <a:xfrm>
            <a:off x="640080" y="2011680"/>
            <a:ext cx="3520440" cy="3383280"/>
          </a:xfrm>
          <a:prstGeom prst="roundRect">
            <a:avLst>
              <a:gd name="adj" fmla="val 2432"/>
            </a:avLst>
          </a:prstGeom>
          <a:solidFill>
            <a:srgbClr val="FFFFFF"/>
          </a:solidFill>
          <a:ln/>
          <a:effectLst>
            <a:outerShdw sx="100000" sy="100000" kx="0" ky="0" algn="bl" rotWithShape="0" blurRad="88900" dist="38100" dir="5400000">
              <a:srgbClr val="9AA6BF">
                <a:alpha val="28000"/>
              </a:srgbClr>
            </a:outerShdw>
          </a:effectLst>
        </p:spPr>
      </p:sp>
      <p:sp>
        <p:nvSpPr>
          <p:cNvPr id="5" name="Shape 3"/>
          <p:cNvSpPr/>
          <p:nvPr/>
        </p:nvSpPr>
        <p:spPr>
          <a:xfrm>
            <a:off x="960120" y="2331720"/>
            <a:ext cx="2880360" cy="502920"/>
          </a:xfrm>
          <a:prstGeom prst="roundRect">
            <a:avLst>
              <a:gd name="adj" fmla="val 10909"/>
            </a:avLst>
          </a:prstGeom>
          <a:solidFill>
            <a:srgbClr val="1E2761"/>
          </a:solidFill>
          <a:ln/>
        </p:spPr>
      </p:sp>
      <p:sp>
        <p:nvSpPr>
          <p:cNvPr id="6" name="Text 4"/>
          <p:cNvSpPr/>
          <p:nvPr/>
        </p:nvSpPr>
        <p:spPr>
          <a:xfrm>
            <a:off x="960120" y="2331720"/>
            <a:ext cx="288036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job-scan</a:t>
            </a:r>
            <a:endParaRPr lang="en-US" sz="1500" dirty="0"/>
          </a:p>
        </p:txBody>
      </p:sp>
      <p:sp>
        <p:nvSpPr>
          <p:cNvPr id="7" name="Text 5"/>
          <p:cNvSpPr/>
          <p:nvPr/>
        </p:nvSpPr>
        <p:spPr>
          <a:xfrm>
            <a:off x="960120" y="3017520"/>
            <a:ext cx="2926080" cy="365760"/>
          </a:xfrm>
          <a:prstGeom prst="rect">
            <a:avLst/>
          </a:prstGeom>
          <a:noFill/>
          <a:ln/>
        </p:spPr>
        <p:txBody>
          <a:bodyPr wrap="square" lIns="0" tIns="0" rIns="0" bIns="0" rtlCol="0" anchor="ctr"/>
          <a:lstStyle/>
          <a:p>
            <a:pPr indent="0" marL="0">
              <a:buNone/>
            </a:pPr>
            <a:r>
              <a:rPr lang="en-US" sz="1500" b="1" dirty="0">
                <a:solidFill>
                  <a:srgbClr val="02C39A"/>
                </a:solidFill>
                <a:latin typeface="Cambria" pitchFamily="34" charset="0"/>
                <a:ea typeface="Cambria" pitchFamily="34" charset="-122"/>
                <a:cs typeface="Cambria" pitchFamily="34" charset="-120"/>
              </a:rPr>
              <a:t>The engine</a:t>
            </a:r>
            <a:endParaRPr lang="en-US" sz="1500" dirty="0"/>
          </a:p>
        </p:txBody>
      </p:sp>
      <p:sp>
        <p:nvSpPr>
          <p:cNvPr id="8" name="Text 6"/>
          <p:cNvSpPr/>
          <p:nvPr/>
        </p:nvSpPr>
        <p:spPr>
          <a:xfrm>
            <a:off x="960120" y="3474720"/>
            <a:ext cx="2926080" cy="1737360"/>
          </a:xfrm>
          <a:prstGeom prst="rect">
            <a:avLst/>
          </a:prstGeom>
          <a:noFill/>
          <a:ln/>
        </p:spPr>
        <p:txBody>
          <a:bodyPr wrap="square" lIns="0" tIns="0" rIns="0" bIns="0" rtlCol="0" anchor="ctr"/>
          <a:lstStyle/>
          <a:p>
            <a:pPr indent="0" marL="0">
              <a:buNone/>
            </a:pPr>
            <a:r>
              <a:rPr lang="en-US" sz="1350" dirty="0">
                <a:solidFill>
                  <a:srgbClr val="5B6472"/>
                </a:solidFill>
                <a:latin typeface="Calibri" pitchFamily="34" charset="0"/>
                <a:ea typeface="Calibri" pitchFamily="34" charset="-122"/>
                <a:cs typeface="Calibri" pitchFamily="34" charset="-120"/>
              </a:rPr>
              <a:t>Runs your recurring search from your resume: discovery, honest scoring, resumes, cover notes, study plans, and interview prep.</a:t>
            </a:r>
            <a:endParaRPr lang="en-US" sz="1350" dirty="0"/>
          </a:p>
        </p:txBody>
      </p:sp>
      <p:sp>
        <p:nvSpPr>
          <p:cNvPr id="9" name="Shape 7"/>
          <p:cNvSpPr/>
          <p:nvPr/>
        </p:nvSpPr>
        <p:spPr>
          <a:xfrm>
            <a:off x="4343400" y="2011680"/>
            <a:ext cx="3520440" cy="3383280"/>
          </a:xfrm>
          <a:prstGeom prst="roundRect">
            <a:avLst>
              <a:gd name="adj" fmla="val 2432"/>
            </a:avLst>
          </a:prstGeom>
          <a:solidFill>
            <a:srgbClr val="FFFFFF"/>
          </a:solidFill>
          <a:ln/>
          <a:effectLst>
            <a:outerShdw sx="100000" sy="100000" kx="0" ky="0" algn="bl" rotWithShape="0" blurRad="88900" dist="38100" dir="5400000">
              <a:srgbClr val="9AA6BF">
                <a:alpha val="28000"/>
              </a:srgbClr>
            </a:outerShdw>
          </a:effectLst>
        </p:spPr>
      </p:sp>
      <p:sp>
        <p:nvSpPr>
          <p:cNvPr id="10" name="Shape 8"/>
          <p:cNvSpPr/>
          <p:nvPr/>
        </p:nvSpPr>
        <p:spPr>
          <a:xfrm>
            <a:off x="4663440" y="2331720"/>
            <a:ext cx="2880360" cy="502920"/>
          </a:xfrm>
          <a:prstGeom prst="roundRect">
            <a:avLst>
              <a:gd name="adj" fmla="val 10909"/>
            </a:avLst>
          </a:prstGeom>
          <a:solidFill>
            <a:srgbClr val="1E2761"/>
          </a:solidFill>
          <a:ln/>
        </p:spPr>
      </p:sp>
      <p:sp>
        <p:nvSpPr>
          <p:cNvPr id="11" name="Text 9"/>
          <p:cNvSpPr/>
          <p:nvPr/>
        </p:nvSpPr>
        <p:spPr>
          <a:xfrm>
            <a:off x="4663440" y="2331720"/>
            <a:ext cx="288036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opportunity-brief</a:t>
            </a:r>
            <a:endParaRPr lang="en-US" sz="1500" dirty="0"/>
          </a:p>
        </p:txBody>
      </p:sp>
      <p:sp>
        <p:nvSpPr>
          <p:cNvPr id="12" name="Text 10"/>
          <p:cNvSpPr/>
          <p:nvPr/>
        </p:nvSpPr>
        <p:spPr>
          <a:xfrm>
            <a:off x="4663440" y="3017520"/>
            <a:ext cx="2926080" cy="365760"/>
          </a:xfrm>
          <a:prstGeom prst="rect">
            <a:avLst/>
          </a:prstGeom>
          <a:noFill/>
          <a:ln/>
        </p:spPr>
        <p:txBody>
          <a:bodyPr wrap="square" lIns="0" tIns="0" rIns="0" bIns="0" rtlCol="0" anchor="ctr"/>
          <a:lstStyle/>
          <a:p>
            <a:pPr indent="0" marL="0">
              <a:buNone/>
            </a:pPr>
            <a:r>
              <a:rPr lang="en-US" sz="1500" b="1" dirty="0">
                <a:solidFill>
                  <a:srgbClr val="02C39A"/>
                </a:solidFill>
                <a:latin typeface="Cambria" pitchFamily="34" charset="0"/>
                <a:ea typeface="Cambria" pitchFamily="34" charset="-122"/>
                <a:cs typeface="Cambria" pitchFamily="34" charset="-120"/>
              </a:rPr>
              <a:t>The other direction</a:t>
            </a:r>
            <a:endParaRPr lang="en-US" sz="1500" dirty="0"/>
          </a:p>
        </p:txBody>
      </p:sp>
      <p:sp>
        <p:nvSpPr>
          <p:cNvPr id="13" name="Text 11"/>
          <p:cNvSpPr/>
          <p:nvPr/>
        </p:nvSpPr>
        <p:spPr>
          <a:xfrm>
            <a:off x="4663440" y="3474720"/>
            <a:ext cx="2926080" cy="1737360"/>
          </a:xfrm>
          <a:prstGeom prst="rect">
            <a:avLst/>
          </a:prstGeom>
          <a:noFill/>
          <a:ln/>
        </p:spPr>
        <p:txBody>
          <a:bodyPr wrap="square" lIns="0" tIns="0" rIns="0" bIns="0" rtlCol="0" anchor="ctr"/>
          <a:lstStyle/>
          <a:p>
            <a:pPr indent="0" marL="0">
              <a:buNone/>
            </a:pPr>
            <a:r>
              <a:rPr lang="en-US" sz="1350" dirty="0">
                <a:solidFill>
                  <a:srgbClr val="5B6472"/>
                </a:solidFill>
                <a:latin typeface="Calibri" pitchFamily="34" charset="0"/>
                <a:ea typeface="Calibri" pitchFamily="34" charset="-122"/>
                <a:cs typeface="Calibri" pitchFamily="34" charset="-120"/>
              </a:rPr>
              <a:t>A recruiter reaches out or a friend names a company. Get a grounded brief on what it is and where you really fit.</a:t>
            </a:r>
            <a:endParaRPr lang="en-US" sz="1350" dirty="0"/>
          </a:p>
        </p:txBody>
      </p:sp>
      <p:sp>
        <p:nvSpPr>
          <p:cNvPr id="14" name="Shape 12"/>
          <p:cNvSpPr/>
          <p:nvPr/>
        </p:nvSpPr>
        <p:spPr>
          <a:xfrm>
            <a:off x="8046720" y="2011680"/>
            <a:ext cx="3520440" cy="3383280"/>
          </a:xfrm>
          <a:prstGeom prst="roundRect">
            <a:avLst>
              <a:gd name="adj" fmla="val 2432"/>
            </a:avLst>
          </a:prstGeom>
          <a:solidFill>
            <a:srgbClr val="FFFFFF"/>
          </a:solidFill>
          <a:ln/>
          <a:effectLst>
            <a:outerShdw sx="100000" sy="100000" kx="0" ky="0" algn="bl" rotWithShape="0" blurRad="88900" dist="38100" dir="5400000">
              <a:srgbClr val="9AA6BF">
                <a:alpha val="28000"/>
              </a:srgbClr>
            </a:outerShdw>
          </a:effectLst>
        </p:spPr>
      </p:sp>
      <p:sp>
        <p:nvSpPr>
          <p:cNvPr id="15" name="Shape 13"/>
          <p:cNvSpPr/>
          <p:nvPr/>
        </p:nvSpPr>
        <p:spPr>
          <a:xfrm>
            <a:off x="8366760" y="2331720"/>
            <a:ext cx="2880360" cy="502920"/>
          </a:xfrm>
          <a:prstGeom prst="roundRect">
            <a:avLst>
              <a:gd name="adj" fmla="val 10909"/>
            </a:avLst>
          </a:prstGeom>
          <a:solidFill>
            <a:srgbClr val="1E2761"/>
          </a:solidFill>
          <a:ln/>
        </p:spPr>
      </p:sp>
      <p:sp>
        <p:nvSpPr>
          <p:cNvPr id="16" name="Text 14"/>
          <p:cNvSpPr/>
          <p:nvPr/>
        </p:nvSpPr>
        <p:spPr>
          <a:xfrm>
            <a:off x="8366760" y="2331720"/>
            <a:ext cx="288036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roadmap-interview</a:t>
            </a:r>
            <a:endParaRPr lang="en-US" sz="1500" dirty="0"/>
          </a:p>
        </p:txBody>
      </p:sp>
      <p:sp>
        <p:nvSpPr>
          <p:cNvPr id="17" name="Text 15"/>
          <p:cNvSpPr/>
          <p:nvPr/>
        </p:nvSpPr>
        <p:spPr>
          <a:xfrm>
            <a:off x="8366760" y="3017520"/>
            <a:ext cx="2926080" cy="365760"/>
          </a:xfrm>
          <a:prstGeom prst="rect">
            <a:avLst/>
          </a:prstGeom>
          <a:noFill/>
          <a:ln/>
        </p:spPr>
        <p:txBody>
          <a:bodyPr wrap="square" lIns="0" tIns="0" rIns="0" bIns="0" rtlCol="0" anchor="ctr"/>
          <a:lstStyle/>
          <a:p>
            <a:pPr indent="0" marL="0">
              <a:buNone/>
            </a:pPr>
            <a:r>
              <a:rPr lang="en-US" sz="1500" b="1" dirty="0">
                <a:solidFill>
                  <a:srgbClr val="02C39A"/>
                </a:solidFill>
                <a:latin typeface="Cambria" pitchFamily="34" charset="0"/>
                <a:ea typeface="Cambria" pitchFamily="34" charset="-122"/>
                <a:cs typeface="Cambria" pitchFamily="34" charset="-120"/>
              </a:rPr>
              <a:t>For maintainers</a:t>
            </a:r>
            <a:endParaRPr lang="en-US" sz="1500" dirty="0"/>
          </a:p>
        </p:txBody>
      </p:sp>
      <p:sp>
        <p:nvSpPr>
          <p:cNvPr id="18" name="Text 16"/>
          <p:cNvSpPr/>
          <p:nvPr/>
        </p:nvSpPr>
        <p:spPr>
          <a:xfrm>
            <a:off x="8366760" y="3474720"/>
            <a:ext cx="2926080" cy="1737360"/>
          </a:xfrm>
          <a:prstGeom prst="rect">
            <a:avLst/>
          </a:prstGeom>
          <a:noFill/>
          <a:ln/>
        </p:spPr>
        <p:txBody>
          <a:bodyPr wrap="square" lIns="0" tIns="0" rIns="0" bIns="0" rtlCol="0" anchor="ctr"/>
          <a:lstStyle/>
          <a:p>
            <a:pPr indent="0" marL="0">
              <a:buNone/>
            </a:pPr>
            <a:r>
              <a:rPr lang="en-US" sz="1350" dirty="0">
                <a:solidFill>
                  <a:srgbClr val="5B6472"/>
                </a:solidFill>
                <a:latin typeface="Calibri" pitchFamily="34" charset="0"/>
                <a:ea typeface="Calibri" pitchFamily="34" charset="-122"/>
                <a:cs typeface="Calibri" pitchFamily="34" charset="-120"/>
              </a:rPr>
              <a:t>Interviews users about what to build next, so the roadmap follows real needs, not guesses.</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640080" y="502920"/>
            <a:ext cx="7315200" cy="36576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INSIDE JOB-SCAN</a:t>
            </a:r>
            <a:endParaRPr lang="en-US" sz="1300" dirty="0"/>
          </a:p>
        </p:txBody>
      </p:sp>
      <p:sp>
        <p:nvSpPr>
          <p:cNvPr id="3" name="Text 1"/>
          <p:cNvSpPr/>
          <p:nvPr/>
        </p:nvSpPr>
        <p:spPr>
          <a:xfrm>
            <a:off x="640080" y="841248"/>
            <a:ext cx="10881360" cy="1005840"/>
          </a:xfrm>
          <a:prstGeom prst="rect">
            <a:avLst/>
          </a:prstGeom>
          <a:noFill/>
          <a:ln/>
        </p:spPr>
        <p:txBody>
          <a:bodyPr wrap="square" lIns="0" tIns="0" rIns="0" bIns="0" rtlCol="0" anchor="ctr"/>
          <a:lstStyle/>
          <a:p>
            <a:pPr indent="0" marL="0">
              <a:buNone/>
            </a:pPr>
            <a:r>
              <a:rPr lang="en-US" sz="3300" b="1" dirty="0">
                <a:solidFill>
                  <a:srgbClr val="1E2761"/>
                </a:solidFill>
                <a:latin typeface="Cambria" pitchFamily="34" charset="0"/>
                <a:ea typeface="Cambria" pitchFamily="34" charset="-122"/>
                <a:cs typeface="Cambria" pitchFamily="34" charset="-120"/>
              </a:rPr>
              <a:t>Five modes, one setup</a:t>
            </a:r>
            <a:endParaRPr lang="en-US" sz="3300" dirty="0"/>
          </a:p>
        </p:txBody>
      </p:sp>
      <p:sp>
        <p:nvSpPr>
          <p:cNvPr id="4" name="Shape 2"/>
          <p:cNvSpPr/>
          <p:nvPr/>
        </p:nvSpPr>
        <p:spPr>
          <a:xfrm>
            <a:off x="640080" y="2011680"/>
            <a:ext cx="3520440" cy="1920240"/>
          </a:xfrm>
          <a:prstGeom prst="roundRect">
            <a:avLst>
              <a:gd name="adj" fmla="val 4286"/>
            </a:avLst>
          </a:prstGeom>
          <a:solidFill>
            <a:srgbClr val="FFFFFF"/>
          </a:solidFill>
          <a:ln/>
          <a:effectLst>
            <a:outerShdw sx="100000" sy="100000" kx="0" ky="0" algn="bl" rotWithShape="0" blurRad="88900" dist="38100" dir="5400000">
              <a:srgbClr val="9AA6BF">
                <a:alpha val="28000"/>
              </a:srgbClr>
            </a:outerShdw>
          </a:effectLst>
        </p:spPr>
      </p:sp>
      <p:sp>
        <p:nvSpPr>
          <p:cNvPr id="5" name="Shape 3"/>
          <p:cNvSpPr/>
          <p:nvPr/>
        </p:nvSpPr>
        <p:spPr>
          <a:xfrm>
            <a:off x="932688" y="2304288"/>
            <a:ext cx="548640" cy="548640"/>
          </a:xfrm>
          <a:prstGeom prst="ellipse">
            <a:avLst/>
          </a:prstGeom>
          <a:solidFill>
            <a:srgbClr val="1E2761"/>
          </a:solidFill>
          <a:ln/>
        </p:spPr>
      </p:sp>
      <p:sp>
        <p:nvSpPr>
          <p:cNvPr id="6" name="Text 4"/>
          <p:cNvSpPr/>
          <p:nvPr/>
        </p:nvSpPr>
        <p:spPr>
          <a:xfrm>
            <a:off x="932688" y="2304288"/>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7" name="Text 5"/>
          <p:cNvSpPr/>
          <p:nvPr/>
        </p:nvSpPr>
        <p:spPr>
          <a:xfrm>
            <a:off x="1645920" y="2322576"/>
            <a:ext cx="2377440" cy="50292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Set up</a:t>
            </a:r>
            <a:endParaRPr lang="en-US" sz="1800" dirty="0"/>
          </a:p>
        </p:txBody>
      </p:sp>
      <p:sp>
        <p:nvSpPr>
          <p:cNvPr id="8" name="Text 6"/>
          <p:cNvSpPr/>
          <p:nvPr/>
        </p:nvSpPr>
        <p:spPr>
          <a:xfrm>
            <a:off x="960120" y="2926080"/>
            <a:ext cx="2926080" cy="91440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Interviews you, captures honesty guardrails, seeds a story bank, builds a target list.</a:t>
            </a:r>
            <a:endParaRPr lang="en-US" sz="1300" dirty="0"/>
          </a:p>
        </p:txBody>
      </p:sp>
      <p:sp>
        <p:nvSpPr>
          <p:cNvPr id="9" name="Shape 7"/>
          <p:cNvSpPr/>
          <p:nvPr/>
        </p:nvSpPr>
        <p:spPr>
          <a:xfrm>
            <a:off x="4343400" y="2011680"/>
            <a:ext cx="3520440" cy="1920240"/>
          </a:xfrm>
          <a:prstGeom prst="roundRect">
            <a:avLst>
              <a:gd name="adj" fmla="val 4286"/>
            </a:avLst>
          </a:prstGeom>
          <a:solidFill>
            <a:srgbClr val="FFFFFF"/>
          </a:solidFill>
          <a:ln/>
          <a:effectLst>
            <a:outerShdw sx="100000" sy="100000" kx="0" ky="0" algn="bl" rotWithShape="0" blurRad="88900" dist="38100" dir="5400000">
              <a:srgbClr val="9AA6BF">
                <a:alpha val="28000"/>
              </a:srgbClr>
            </a:outerShdw>
          </a:effectLst>
        </p:spPr>
      </p:sp>
      <p:sp>
        <p:nvSpPr>
          <p:cNvPr id="10" name="Shape 8"/>
          <p:cNvSpPr/>
          <p:nvPr/>
        </p:nvSpPr>
        <p:spPr>
          <a:xfrm>
            <a:off x="4636008" y="2304288"/>
            <a:ext cx="548640" cy="548640"/>
          </a:xfrm>
          <a:prstGeom prst="ellipse">
            <a:avLst/>
          </a:prstGeom>
          <a:solidFill>
            <a:srgbClr val="1E2761"/>
          </a:solidFill>
          <a:ln/>
        </p:spPr>
      </p:sp>
      <p:sp>
        <p:nvSpPr>
          <p:cNvPr id="11" name="Text 9"/>
          <p:cNvSpPr/>
          <p:nvPr/>
        </p:nvSpPr>
        <p:spPr>
          <a:xfrm>
            <a:off x="4636008" y="2304288"/>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2" name="Text 10"/>
          <p:cNvSpPr/>
          <p:nvPr/>
        </p:nvSpPr>
        <p:spPr>
          <a:xfrm>
            <a:off x="5349240" y="2322576"/>
            <a:ext cx="2377440" cy="50292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Scan</a:t>
            </a:r>
            <a:endParaRPr lang="en-US" sz="1800" dirty="0"/>
          </a:p>
        </p:txBody>
      </p:sp>
      <p:sp>
        <p:nvSpPr>
          <p:cNvPr id="13" name="Text 11"/>
          <p:cNvSpPr/>
          <p:nvPr/>
        </p:nvSpPr>
        <p:spPr>
          <a:xfrm>
            <a:off x="4663440" y="2926080"/>
            <a:ext cx="2926080" cy="91440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Daily. Discovers roles, screens for legitimacy, scores fit with a named gap.</a:t>
            </a:r>
            <a:endParaRPr lang="en-US" sz="1300" dirty="0"/>
          </a:p>
        </p:txBody>
      </p:sp>
      <p:sp>
        <p:nvSpPr>
          <p:cNvPr id="14" name="Shape 12"/>
          <p:cNvSpPr/>
          <p:nvPr/>
        </p:nvSpPr>
        <p:spPr>
          <a:xfrm>
            <a:off x="8046720" y="2011680"/>
            <a:ext cx="3520440" cy="1920240"/>
          </a:xfrm>
          <a:prstGeom prst="roundRect">
            <a:avLst>
              <a:gd name="adj" fmla="val 4286"/>
            </a:avLst>
          </a:prstGeom>
          <a:solidFill>
            <a:srgbClr val="FFFFFF"/>
          </a:solidFill>
          <a:ln/>
          <a:effectLst>
            <a:outerShdw sx="100000" sy="100000" kx="0" ky="0" algn="bl" rotWithShape="0" blurRad="88900" dist="38100" dir="5400000">
              <a:srgbClr val="9AA6BF">
                <a:alpha val="28000"/>
              </a:srgbClr>
            </a:outerShdw>
          </a:effectLst>
        </p:spPr>
      </p:sp>
      <p:sp>
        <p:nvSpPr>
          <p:cNvPr id="15" name="Shape 13"/>
          <p:cNvSpPr/>
          <p:nvPr/>
        </p:nvSpPr>
        <p:spPr>
          <a:xfrm>
            <a:off x="8339328" y="2304288"/>
            <a:ext cx="548640" cy="548640"/>
          </a:xfrm>
          <a:prstGeom prst="ellipse">
            <a:avLst/>
          </a:prstGeom>
          <a:solidFill>
            <a:srgbClr val="1E2761"/>
          </a:solidFill>
          <a:ln/>
        </p:spPr>
      </p:sp>
      <p:sp>
        <p:nvSpPr>
          <p:cNvPr id="16" name="Text 14"/>
          <p:cNvSpPr/>
          <p:nvPr/>
        </p:nvSpPr>
        <p:spPr>
          <a:xfrm>
            <a:off x="8339328" y="2304288"/>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17" name="Text 15"/>
          <p:cNvSpPr/>
          <p:nvPr/>
        </p:nvSpPr>
        <p:spPr>
          <a:xfrm>
            <a:off x="9052560" y="2322576"/>
            <a:ext cx="2377440" cy="50292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Draft</a:t>
            </a:r>
            <a:endParaRPr lang="en-US" sz="1800" dirty="0"/>
          </a:p>
        </p:txBody>
      </p:sp>
      <p:sp>
        <p:nvSpPr>
          <p:cNvPr id="18" name="Text 16"/>
          <p:cNvSpPr/>
          <p:nvPr/>
        </p:nvSpPr>
        <p:spPr>
          <a:xfrm>
            <a:off x="8366760" y="2926080"/>
            <a:ext cx="2926080" cy="91440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Cover notes and emails that never restate the job description.</a:t>
            </a:r>
            <a:endParaRPr lang="en-US" sz="1300" dirty="0"/>
          </a:p>
        </p:txBody>
      </p:sp>
      <p:sp>
        <p:nvSpPr>
          <p:cNvPr id="19" name="Shape 17"/>
          <p:cNvSpPr/>
          <p:nvPr/>
        </p:nvSpPr>
        <p:spPr>
          <a:xfrm>
            <a:off x="640080" y="4160520"/>
            <a:ext cx="3520440" cy="1920240"/>
          </a:xfrm>
          <a:prstGeom prst="roundRect">
            <a:avLst>
              <a:gd name="adj" fmla="val 4286"/>
            </a:avLst>
          </a:prstGeom>
          <a:solidFill>
            <a:srgbClr val="FFFFFF"/>
          </a:solidFill>
          <a:ln/>
          <a:effectLst>
            <a:outerShdw sx="100000" sy="100000" kx="0" ky="0" algn="bl" rotWithShape="0" blurRad="88900" dist="38100" dir="5400000">
              <a:srgbClr val="9AA6BF">
                <a:alpha val="28000"/>
              </a:srgbClr>
            </a:outerShdw>
          </a:effectLst>
        </p:spPr>
      </p:sp>
      <p:sp>
        <p:nvSpPr>
          <p:cNvPr id="20" name="Shape 18"/>
          <p:cNvSpPr/>
          <p:nvPr/>
        </p:nvSpPr>
        <p:spPr>
          <a:xfrm>
            <a:off x="932688" y="4453128"/>
            <a:ext cx="548640" cy="548640"/>
          </a:xfrm>
          <a:prstGeom prst="ellipse">
            <a:avLst/>
          </a:prstGeom>
          <a:solidFill>
            <a:srgbClr val="1E2761"/>
          </a:solidFill>
          <a:ln/>
        </p:spPr>
      </p:sp>
      <p:sp>
        <p:nvSpPr>
          <p:cNvPr id="21" name="Text 19"/>
          <p:cNvSpPr/>
          <p:nvPr/>
        </p:nvSpPr>
        <p:spPr>
          <a:xfrm>
            <a:off x="932688" y="4453128"/>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4</a:t>
            </a:r>
            <a:endParaRPr lang="en-US" sz="1700" dirty="0"/>
          </a:p>
        </p:txBody>
      </p:sp>
      <p:sp>
        <p:nvSpPr>
          <p:cNvPr id="22" name="Text 20"/>
          <p:cNvSpPr/>
          <p:nvPr/>
        </p:nvSpPr>
        <p:spPr>
          <a:xfrm>
            <a:off x="1645920" y="4471416"/>
            <a:ext cx="2377440" cy="50292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Plan</a:t>
            </a:r>
            <a:endParaRPr lang="en-US" sz="1800" dirty="0"/>
          </a:p>
        </p:txBody>
      </p:sp>
      <p:sp>
        <p:nvSpPr>
          <p:cNvPr id="23" name="Text 21"/>
          <p:cNvSpPr/>
          <p:nvPr/>
        </p:nvSpPr>
        <p:spPr>
          <a:xfrm>
            <a:off x="960120" y="5074920"/>
            <a:ext cx="2926080" cy="91440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A study plan when a recurring, closable gap keeps blocking roles you want.</a:t>
            </a:r>
            <a:endParaRPr lang="en-US" sz="1300" dirty="0"/>
          </a:p>
        </p:txBody>
      </p:sp>
      <p:sp>
        <p:nvSpPr>
          <p:cNvPr id="24" name="Shape 22"/>
          <p:cNvSpPr/>
          <p:nvPr/>
        </p:nvSpPr>
        <p:spPr>
          <a:xfrm>
            <a:off x="4343400" y="4160520"/>
            <a:ext cx="3520440" cy="1920240"/>
          </a:xfrm>
          <a:prstGeom prst="roundRect">
            <a:avLst>
              <a:gd name="adj" fmla="val 4286"/>
            </a:avLst>
          </a:prstGeom>
          <a:solidFill>
            <a:srgbClr val="FFFFFF"/>
          </a:solidFill>
          <a:ln/>
          <a:effectLst>
            <a:outerShdw sx="100000" sy="100000" kx="0" ky="0" algn="bl" rotWithShape="0" blurRad="88900" dist="38100" dir="5400000">
              <a:srgbClr val="9AA6BF">
                <a:alpha val="28000"/>
              </a:srgbClr>
            </a:outerShdw>
          </a:effectLst>
        </p:spPr>
      </p:sp>
      <p:sp>
        <p:nvSpPr>
          <p:cNvPr id="25" name="Shape 23"/>
          <p:cNvSpPr/>
          <p:nvPr/>
        </p:nvSpPr>
        <p:spPr>
          <a:xfrm>
            <a:off x="4636008" y="4453128"/>
            <a:ext cx="548640" cy="548640"/>
          </a:xfrm>
          <a:prstGeom prst="ellipse">
            <a:avLst/>
          </a:prstGeom>
          <a:solidFill>
            <a:srgbClr val="1E2761"/>
          </a:solidFill>
          <a:ln/>
        </p:spPr>
      </p:sp>
      <p:sp>
        <p:nvSpPr>
          <p:cNvPr id="26" name="Text 24"/>
          <p:cNvSpPr/>
          <p:nvPr/>
        </p:nvSpPr>
        <p:spPr>
          <a:xfrm>
            <a:off x="4636008" y="4453128"/>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5</a:t>
            </a:r>
            <a:endParaRPr lang="en-US" sz="1700" dirty="0"/>
          </a:p>
        </p:txBody>
      </p:sp>
      <p:sp>
        <p:nvSpPr>
          <p:cNvPr id="27" name="Text 25"/>
          <p:cNvSpPr/>
          <p:nvPr/>
        </p:nvSpPr>
        <p:spPr>
          <a:xfrm>
            <a:off x="5349240" y="4471416"/>
            <a:ext cx="2377440" cy="50292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Interview</a:t>
            </a:r>
            <a:endParaRPr lang="en-US" sz="1800" dirty="0"/>
          </a:p>
        </p:txBody>
      </p:sp>
      <p:sp>
        <p:nvSpPr>
          <p:cNvPr id="28" name="Text 26"/>
          <p:cNvSpPr/>
          <p:nvPr/>
        </p:nvSpPr>
        <p:spPr>
          <a:xfrm>
            <a:off x="4663440" y="5074920"/>
            <a:ext cx="2926080" cy="91440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Prep grounded in your stories and the actual posting.</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640080" y="502920"/>
            <a:ext cx="7315200" cy="36576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WHY YOU CAN SEND WHAT IT WRITES</a:t>
            </a:r>
            <a:endParaRPr lang="en-US" sz="1300" dirty="0"/>
          </a:p>
        </p:txBody>
      </p:sp>
      <p:sp>
        <p:nvSpPr>
          <p:cNvPr id="3" name="Text 1"/>
          <p:cNvSpPr/>
          <p:nvPr/>
        </p:nvSpPr>
        <p:spPr>
          <a:xfrm>
            <a:off x="640080" y="841248"/>
            <a:ext cx="10881360" cy="1005840"/>
          </a:xfrm>
          <a:prstGeom prst="rect">
            <a:avLst/>
          </a:prstGeom>
          <a:noFill/>
          <a:ln/>
        </p:spPr>
        <p:txBody>
          <a:bodyPr wrap="square" lIns="0" tIns="0" rIns="0" bIns="0" rtlCol="0" anchor="ctr"/>
          <a:lstStyle/>
          <a:p>
            <a:pPr indent="0" marL="0">
              <a:buNone/>
            </a:pPr>
            <a:r>
              <a:rPr lang="en-US" sz="3300" b="1" dirty="0">
                <a:solidFill>
                  <a:srgbClr val="FFFFFF"/>
                </a:solidFill>
                <a:latin typeface="Cambria" pitchFamily="34" charset="0"/>
                <a:ea typeface="Cambria" pitchFamily="34" charset="-122"/>
                <a:cs typeface="Cambria" pitchFamily="34" charset="-120"/>
              </a:rPr>
              <a:t>Rules it will not break</a:t>
            </a:r>
            <a:endParaRPr lang="en-US" sz="3300" dirty="0"/>
          </a:p>
        </p:txBody>
      </p:sp>
      <p:sp>
        <p:nvSpPr>
          <p:cNvPr id="4" name="Shape 2"/>
          <p:cNvSpPr/>
          <p:nvPr/>
        </p:nvSpPr>
        <p:spPr>
          <a:xfrm>
            <a:off x="640080" y="2057400"/>
            <a:ext cx="5257800" cy="1554480"/>
          </a:xfrm>
          <a:prstGeom prst="roundRect">
            <a:avLst>
              <a:gd name="adj" fmla="val 5294"/>
            </a:avLst>
          </a:prstGeom>
          <a:solidFill>
            <a:srgbClr val="2A3573"/>
          </a:solidFill>
          <a:ln/>
          <a:effectLst>
            <a:outerShdw sx="100000" sy="100000" kx="0" ky="0" algn="bl" rotWithShape="0" blurRad="88900" dist="38100" dir="5400000">
              <a:srgbClr val="9AA6BF">
                <a:alpha val="28000"/>
              </a:srgbClr>
            </a:outerShdw>
          </a:effectLst>
        </p:spPr>
      </p:sp>
      <p:sp>
        <p:nvSpPr>
          <p:cNvPr id="5" name="Text 3"/>
          <p:cNvSpPr/>
          <p:nvPr/>
        </p:nvSpPr>
        <p:spPr>
          <a:xfrm>
            <a:off x="1005840" y="2313432"/>
            <a:ext cx="4572000" cy="457200"/>
          </a:xfrm>
          <a:prstGeom prst="rect">
            <a:avLst/>
          </a:prstGeom>
          <a:noFill/>
          <a:ln/>
        </p:spPr>
        <p:txBody>
          <a:bodyPr wrap="square" lIns="0" tIns="0" rIns="0" bIns="0" rtlCol="0" anchor="ctr"/>
          <a:lstStyle/>
          <a:p>
            <a:pPr indent="0" marL="0">
              <a:buNone/>
            </a:pPr>
            <a:r>
              <a:rPr lang="en-US" sz="1700" b="1" dirty="0">
                <a:solidFill>
                  <a:srgbClr val="02C39A"/>
                </a:solidFill>
                <a:latin typeface="Cambria" pitchFamily="34" charset="0"/>
                <a:ea typeface="Cambria" pitchFamily="34" charset="-122"/>
                <a:cs typeface="Cambria" pitchFamily="34" charset="-120"/>
              </a:rPr>
              <a:t>Never applies for you</a:t>
            </a:r>
            <a:endParaRPr lang="en-US" sz="1700" dirty="0"/>
          </a:p>
        </p:txBody>
      </p:sp>
      <p:sp>
        <p:nvSpPr>
          <p:cNvPr id="6" name="Text 4"/>
          <p:cNvSpPr/>
          <p:nvPr/>
        </p:nvSpPr>
        <p:spPr>
          <a:xfrm>
            <a:off x="1005840" y="2807208"/>
            <a:ext cx="4617720" cy="640080"/>
          </a:xfrm>
          <a:prstGeom prst="rect">
            <a:avLst/>
          </a:prstGeom>
          <a:noFill/>
          <a:ln/>
        </p:spPr>
        <p:txBody>
          <a:bodyPr wrap="square" lIns="0" tIns="0" rIns="0" bIns="0" rtlCol="0" anchor="ctr"/>
          <a:lstStyle/>
          <a:p>
            <a:pPr indent="0" marL="0">
              <a:buNone/>
            </a:pPr>
            <a:r>
              <a:rPr lang="en-US" sz="1350" dirty="0">
                <a:solidFill>
                  <a:srgbClr val="E4ECFF"/>
                </a:solidFill>
                <a:latin typeface="Calibri" pitchFamily="34" charset="0"/>
                <a:ea typeface="Calibri" pitchFamily="34" charset="-122"/>
                <a:cs typeface="Calibri" pitchFamily="34" charset="-120"/>
              </a:rPr>
              <a:t>It drafts; you send. No auto-submit, no bulk apply.</a:t>
            </a:r>
            <a:endParaRPr lang="en-US" sz="1350" dirty="0"/>
          </a:p>
        </p:txBody>
      </p:sp>
      <p:sp>
        <p:nvSpPr>
          <p:cNvPr id="7" name="Shape 5"/>
          <p:cNvSpPr/>
          <p:nvPr/>
        </p:nvSpPr>
        <p:spPr>
          <a:xfrm>
            <a:off x="6172200" y="2057400"/>
            <a:ext cx="5257800" cy="1554480"/>
          </a:xfrm>
          <a:prstGeom prst="roundRect">
            <a:avLst>
              <a:gd name="adj" fmla="val 5294"/>
            </a:avLst>
          </a:prstGeom>
          <a:solidFill>
            <a:srgbClr val="2A3573"/>
          </a:solidFill>
          <a:ln/>
          <a:effectLst>
            <a:outerShdw sx="100000" sy="100000" kx="0" ky="0" algn="bl" rotWithShape="0" blurRad="88900" dist="38100" dir="5400000">
              <a:srgbClr val="9AA6BF">
                <a:alpha val="28000"/>
              </a:srgbClr>
            </a:outerShdw>
          </a:effectLst>
        </p:spPr>
      </p:sp>
      <p:sp>
        <p:nvSpPr>
          <p:cNvPr id="8" name="Text 6"/>
          <p:cNvSpPr/>
          <p:nvPr/>
        </p:nvSpPr>
        <p:spPr>
          <a:xfrm>
            <a:off x="6537960" y="2313432"/>
            <a:ext cx="4572000" cy="457200"/>
          </a:xfrm>
          <a:prstGeom prst="rect">
            <a:avLst/>
          </a:prstGeom>
          <a:noFill/>
          <a:ln/>
        </p:spPr>
        <p:txBody>
          <a:bodyPr wrap="square" lIns="0" tIns="0" rIns="0" bIns="0" rtlCol="0" anchor="ctr"/>
          <a:lstStyle/>
          <a:p>
            <a:pPr indent="0" marL="0">
              <a:buNone/>
            </a:pPr>
            <a:r>
              <a:rPr lang="en-US" sz="1700" b="1" dirty="0">
                <a:solidFill>
                  <a:srgbClr val="02C39A"/>
                </a:solidFill>
                <a:latin typeface="Cambria" pitchFamily="34" charset="0"/>
                <a:ea typeface="Cambria" pitchFamily="34" charset="-122"/>
                <a:cs typeface="Cambria" pitchFamily="34" charset="-120"/>
              </a:rPr>
              <a:t>Respects every site's terms</a:t>
            </a:r>
            <a:endParaRPr lang="en-US" sz="1700" dirty="0"/>
          </a:p>
        </p:txBody>
      </p:sp>
      <p:sp>
        <p:nvSpPr>
          <p:cNvPr id="9" name="Text 7"/>
          <p:cNvSpPr/>
          <p:nvPr/>
        </p:nvSpPr>
        <p:spPr>
          <a:xfrm>
            <a:off x="6537960" y="2807208"/>
            <a:ext cx="4617720" cy="640080"/>
          </a:xfrm>
          <a:prstGeom prst="rect">
            <a:avLst/>
          </a:prstGeom>
          <a:noFill/>
          <a:ln/>
        </p:spPr>
        <p:txBody>
          <a:bodyPr wrap="square" lIns="0" tIns="0" rIns="0" bIns="0" rtlCol="0" anchor="ctr"/>
          <a:lstStyle/>
          <a:p>
            <a:pPr indent="0" marL="0">
              <a:buNone/>
            </a:pPr>
            <a:r>
              <a:rPr lang="en-US" sz="1350" dirty="0">
                <a:solidFill>
                  <a:srgbClr val="E4ECFF"/>
                </a:solidFill>
                <a:latin typeface="Calibri" pitchFamily="34" charset="0"/>
                <a:ea typeface="Calibri" pitchFamily="34" charset="-122"/>
                <a:cs typeface="Calibri" pitchFamily="34" charset="-120"/>
              </a:rPr>
              <a:t>No scraping behind logins, no CAPTCHA circumvention.</a:t>
            </a:r>
            <a:endParaRPr lang="en-US" sz="1350" dirty="0"/>
          </a:p>
        </p:txBody>
      </p:sp>
      <p:sp>
        <p:nvSpPr>
          <p:cNvPr id="10" name="Shape 8"/>
          <p:cNvSpPr/>
          <p:nvPr/>
        </p:nvSpPr>
        <p:spPr>
          <a:xfrm>
            <a:off x="640080" y="3886200"/>
            <a:ext cx="5257800" cy="1554480"/>
          </a:xfrm>
          <a:prstGeom prst="roundRect">
            <a:avLst>
              <a:gd name="adj" fmla="val 5294"/>
            </a:avLst>
          </a:prstGeom>
          <a:solidFill>
            <a:srgbClr val="2A3573"/>
          </a:solidFill>
          <a:ln/>
          <a:effectLst>
            <a:outerShdw sx="100000" sy="100000" kx="0" ky="0" algn="bl" rotWithShape="0" blurRad="88900" dist="38100" dir="5400000">
              <a:srgbClr val="9AA6BF">
                <a:alpha val="28000"/>
              </a:srgbClr>
            </a:outerShdw>
          </a:effectLst>
        </p:spPr>
      </p:sp>
      <p:sp>
        <p:nvSpPr>
          <p:cNvPr id="11" name="Text 9"/>
          <p:cNvSpPr/>
          <p:nvPr/>
        </p:nvSpPr>
        <p:spPr>
          <a:xfrm>
            <a:off x="1005840" y="4142232"/>
            <a:ext cx="4572000" cy="457200"/>
          </a:xfrm>
          <a:prstGeom prst="rect">
            <a:avLst/>
          </a:prstGeom>
          <a:noFill/>
          <a:ln/>
        </p:spPr>
        <p:txBody>
          <a:bodyPr wrap="square" lIns="0" tIns="0" rIns="0" bIns="0" rtlCol="0" anchor="ctr"/>
          <a:lstStyle/>
          <a:p>
            <a:pPr indent="0" marL="0">
              <a:buNone/>
            </a:pPr>
            <a:r>
              <a:rPr lang="en-US" sz="1700" b="1" dirty="0">
                <a:solidFill>
                  <a:srgbClr val="02C39A"/>
                </a:solidFill>
                <a:latin typeface="Cambria" pitchFamily="34" charset="0"/>
                <a:ea typeface="Cambria" pitchFamily="34" charset="-122"/>
                <a:cs typeface="Cambria" pitchFamily="34" charset="-120"/>
              </a:rPr>
              <a:t>Never fabricates</a:t>
            </a:r>
            <a:endParaRPr lang="en-US" sz="1700" dirty="0"/>
          </a:p>
        </p:txBody>
      </p:sp>
      <p:sp>
        <p:nvSpPr>
          <p:cNvPr id="12" name="Text 10"/>
          <p:cNvSpPr/>
          <p:nvPr/>
        </p:nvSpPr>
        <p:spPr>
          <a:xfrm>
            <a:off x="1005840" y="4636008"/>
            <a:ext cx="4617720" cy="640080"/>
          </a:xfrm>
          <a:prstGeom prst="rect">
            <a:avLst/>
          </a:prstGeom>
          <a:noFill/>
          <a:ln/>
        </p:spPr>
        <p:txBody>
          <a:bodyPr wrap="square" lIns="0" tIns="0" rIns="0" bIns="0" rtlCol="0" anchor="ctr"/>
          <a:lstStyle/>
          <a:p>
            <a:pPr indent="0" marL="0">
              <a:buNone/>
            </a:pPr>
            <a:r>
              <a:rPr lang="en-US" sz="1350" dirty="0">
                <a:solidFill>
                  <a:srgbClr val="E4ECFF"/>
                </a:solidFill>
                <a:latin typeface="Calibri" pitchFamily="34" charset="0"/>
                <a:ea typeface="Calibri" pitchFamily="34" charset="-122"/>
                <a:cs typeface="Calibri" pitchFamily="34" charset="-120"/>
              </a:rPr>
              <a:t>Honesty guardrails travel into every draft.</a:t>
            </a:r>
            <a:endParaRPr lang="en-US" sz="1350" dirty="0"/>
          </a:p>
        </p:txBody>
      </p:sp>
      <p:sp>
        <p:nvSpPr>
          <p:cNvPr id="13" name="Shape 11"/>
          <p:cNvSpPr/>
          <p:nvPr/>
        </p:nvSpPr>
        <p:spPr>
          <a:xfrm>
            <a:off x="6172200" y="3886200"/>
            <a:ext cx="5257800" cy="1554480"/>
          </a:xfrm>
          <a:prstGeom prst="roundRect">
            <a:avLst>
              <a:gd name="adj" fmla="val 5294"/>
            </a:avLst>
          </a:prstGeom>
          <a:solidFill>
            <a:srgbClr val="2A3573"/>
          </a:solidFill>
          <a:ln/>
          <a:effectLst>
            <a:outerShdw sx="100000" sy="100000" kx="0" ky="0" algn="bl" rotWithShape="0" blurRad="88900" dist="38100" dir="5400000">
              <a:srgbClr val="9AA6BF">
                <a:alpha val="28000"/>
              </a:srgbClr>
            </a:outerShdw>
          </a:effectLst>
        </p:spPr>
      </p:sp>
      <p:sp>
        <p:nvSpPr>
          <p:cNvPr id="14" name="Text 12"/>
          <p:cNvSpPr/>
          <p:nvPr/>
        </p:nvSpPr>
        <p:spPr>
          <a:xfrm>
            <a:off x="6537960" y="4142232"/>
            <a:ext cx="4572000" cy="457200"/>
          </a:xfrm>
          <a:prstGeom prst="rect">
            <a:avLst/>
          </a:prstGeom>
          <a:noFill/>
          <a:ln/>
        </p:spPr>
        <p:txBody>
          <a:bodyPr wrap="square" lIns="0" tIns="0" rIns="0" bIns="0" rtlCol="0" anchor="ctr"/>
          <a:lstStyle/>
          <a:p>
            <a:pPr indent="0" marL="0">
              <a:buNone/>
            </a:pPr>
            <a:r>
              <a:rPr lang="en-US" sz="1700" b="1" dirty="0">
                <a:solidFill>
                  <a:srgbClr val="02C39A"/>
                </a:solidFill>
                <a:latin typeface="Cambria" pitchFamily="34" charset="0"/>
                <a:ea typeface="Cambria" pitchFamily="34" charset="-122"/>
                <a:cs typeface="Cambria" pitchFamily="34" charset="-120"/>
              </a:rPr>
              <a:t>Your data stays yours</a:t>
            </a:r>
            <a:endParaRPr lang="en-US" sz="1700" dirty="0"/>
          </a:p>
        </p:txBody>
      </p:sp>
      <p:sp>
        <p:nvSpPr>
          <p:cNvPr id="15" name="Text 13"/>
          <p:cNvSpPr/>
          <p:nvPr/>
        </p:nvSpPr>
        <p:spPr>
          <a:xfrm>
            <a:off x="6537960" y="4636008"/>
            <a:ext cx="4617720" cy="640080"/>
          </a:xfrm>
          <a:prstGeom prst="rect">
            <a:avLst/>
          </a:prstGeom>
          <a:noFill/>
          <a:ln/>
        </p:spPr>
        <p:txBody>
          <a:bodyPr wrap="square" lIns="0" tIns="0" rIns="0" bIns="0" rtlCol="0" anchor="ctr"/>
          <a:lstStyle/>
          <a:p>
            <a:pPr indent="0" marL="0">
              <a:buNone/>
            </a:pPr>
            <a:r>
              <a:rPr lang="en-US" sz="1350" dirty="0">
                <a:solidFill>
                  <a:srgbClr val="E4ECFF"/>
                </a:solidFill>
                <a:latin typeface="Calibri" pitchFamily="34" charset="0"/>
                <a:ea typeface="Calibri" pitchFamily="34" charset="-122"/>
                <a:cs typeface="Calibri" pitchFamily="34" charset="-120"/>
              </a:rPr>
              <a:t>It lives in your folder. The project ships none of it.</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280160" y="4023360"/>
            <a:ext cx="4023360" cy="4023360"/>
          </a:xfrm>
          <a:prstGeom prst="ellipse">
            <a:avLst/>
          </a:prstGeom>
          <a:solidFill>
            <a:srgbClr val="2A3573"/>
          </a:solidFill>
          <a:ln/>
        </p:spPr>
      </p:sp>
      <p:sp>
        <p:nvSpPr>
          <p:cNvPr id="3" name="Text 1"/>
          <p:cNvSpPr/>
          <p:nvPr/>
        </p:nvSpPr>
        <p:spPr>
          <a:xfrm>
            <a:off x="822960" y="2377440"/>
            <a:ext cx="5486400" cy="365760"/>
          </a:xfrm>
          <a:prstGeom prst="rect">
            <a:avLst/>
          </a:prstGeom>
          <a:noFill/>
          <a:ln/>
        </p:spPr>
        <p:txBody>
          <a:bodyPr wrap="square" lIns="0" tIns="0" rIns="0" bIns="0" rtlCol="0" anchor="ctr"/>
          <a:lstStyle/>
          <a:p>
            <a:pPr indent="0" marL="0">
              <a:buNone/>
            </a:pPr>
            <a:r>
              <a:rPr lang="en-US" sz="1400" b="1" spc="300" kern="0" dirty="0">
                <a:solidFill>
                  <a:srgbClr val="02C39A"/>
                </a:solidFill>
                <a:latin typeface="Calibri" pitchFamily="34" charset="0"/>
                <a:ea typeface="Calibri" pitchFamily="34" charset="-122"/>
                <a:cs typeface="Calibri" pitchFamily="34" charset="-120"/>
              </a:rPr>
              <a:t>PART TWO</a:t>
            </a:r>
            <a:endParaRPr lang="en-US" sz="1400" dirty="0"/>
          </a:p>
        </p:txBody>
      </p:sp>
      <p:sp>
        <p:nvSpPr>
          <p:cNvPr id="4" name="Text 2"/>
          <p:cNvSpPr/>
          <p:nvPr/>
        </p:nvSpPr>
        <p:spPr>
          <a:xfrm>
            <a:off x="777240" y="2834640"/>
            <a:ext cx="10515600" cy="12801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Using it, start to first result</a:t>
            </a:r>
            <a:endParaRPr lang="en-US" sz="4000" dirty="0"/>
          </a:p>
        </p:txBody>
      </p:sp>
      <p:sp>
        <p:nvSpPr>
          <p:cNvPr id="5" name="Text 3"/>
          <p:cNvSpPr/>
          <p:nvPr/>
        </p:nvSpPr>
        <p:spPr>
          <a:xfrm>
            <a:off x="822960" y="4206240"/>
            <a:ext cx="9144000" cy="457200"/>
          </a:xfrm>
          <a:prstGeom prst="rect">
            <a:avLst/>
          </a:prstGeom>
          <a:noFill/>
          <a:ln/>
        </p:spPr>
        <p:txBody>
          <a:bodyPr wrap="square" lIns="0" tIns="0" rIns="0" bIns="0" rtlCol="0" anchor="ctr"/>
          <a:lstStyle/>
          <a:p>
            <a:pPr indent="0" marL="0">
              <a:buNone/>
            </a:pPr>
            <a:r>
              <a:rPr lang="en-US" sz="1700" dirty="0">
                <a:solidFill>
                  <a:srgbClr val="CADCFC"/>
                </a:solidFill>
                <a:latin typeface="Calibri" pitchFamily="34" charset="0"/>
                <a:ea typeface="Calibri" pitchFamily="34" charset="-122"/>
                <a:cs typeface="Calibri" pitchFamily="34" charset="-120"/>
              </a:rPr>
              <a:t>Install, set up, schedule, and read a morning's scan.</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640080" y="502920"/>
            <a:ext cx="7315200" cy="36576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BEFORE YOU START</a:t>
            </a:r>
            <a:endParaRPr lang="en-US" sz="1300" dirty="0"/>
          </a:p>
        </p:txBody>
      </p:sp>
      <p:sp>
        <p:nvSpPr>
          <p:cNvPr id="3" name="Text 1"/>
          <p:cNvSpPr/>
          <p:nvPr/>
        </p:nvSpPr>
        <p:spPr>
          <a:xfrm>
            <a:off x="640080" y="841248"/>
            <a:ext cx="10881360" cy="1005840"/>
          </a:xfrm>
          <a:prstGeom prst="rect">
            <a:avLst/>
          </a:prstGeom>
          <a:noFill/>
          <a:ln/>
        </p:spPr>
        <p:txBody>
          <a:bodyPr wrap="square" lIns="0" tIns="0" rIns="0" bIns="0" rtlCol="0" anchor="ctr"/>
          <a:lstStyle/>
          <a:p>
            <a:pPr indent="0" marL="0">
              <a:buNone/>
            </a:pPr>
            <a:r>
              <a:rPr lang="en-US" sz="3300" b="1" dirty="0">
                <a:solidFill>
                  <a:srgbClr val="1E2761"/>
                </a:solidFill>
                <a:latin typeface="Cambria" pitchFamily="34" charset="0"/>
                <a:ea typeface="Cambria" pitchFamily="34" charset="-122"/>
                <a:cs typeface="Cambria" pitchFamily="34" charset="-120"/>
              </a:rPr>
              <a:t>Three things</a:t>
            </a:r>
            <a:endParaRPr lang="en-US" sz="3300" dirty="0"/>
          </a:p>
        </p:txBody>
      </p:sp>
      <p:sp>
        <p:nvSpPr>
          <p:cNvPr id="4" name="Shape 2"/>
          <p:cNvSpPr/>
          <p:nvPr/>
        </p:nvSpPr>
        <p:spPr>
          <a:xfrm>
            <a:off x="640080" y="2194560"/>
            <a:ext cx="3520440" cy="2743200"/>
          </a:xfrm>
          <a:prstGeom prst="roundRect">
            <a:avLst>
              <a:gd name="adj" fmla="val 3000"/>
            </a:avLst>
          </a:prstGeom>
          <a:solidFill>
            <a:srgbClr val="FFFFFF"/>
          </a:solidFill>
          <a:ln/>
          <a:effectLst>
            <a:outerShdw sx="100000" sy="100000" kx="0" ky="0" algn="bl" rotWithShape="0" blurRad="88900" dist="38100" dir="5400000">
              <a:srgbClr val="9AA6BF">
                <a:alpha val="28000"/>
              </a:srgbClr>
            </a:outerShdw>
          </a:effectLst>
        </p:spPr>
      </p:sp>
      <p:sp>
        <p:nvSpPr>
          <p:cNvPr id="5" name="Shape 3"/>
          <p:cNvSpPr/>
          <p:nvPr/>
        </p:nvSpPr>
        <p:spPr>
          <a:xfrm>
            <a:off x="2011680" y="2514600"/>
            <a:ext cx="777240" cy="777240"/>
          </a:xfrm>
          <a:prstGeom prst="ellipse">
            <a:avLst/>
          </a:prstGeom>
          <a:solidFill>
            <a:srgbClr val="02C39A"/>
          </a:solidFill>
          <a:ln/>
        </p:spPr>
      </p:sp>
      <p:sp>
        <p:nvSpPr>
          <p:cNvPr id="6" name="Text 4"/>
          <p:cNvSpPr/>
          <p:nvPr/>
        </p:nvSpPr>
        <p:spPr>
          <a:xfrm>
            <a:off x="2011680" y="2514600"/>
            <a:ext cx="777240" cy="777240"/>
          </a:xfrm>
          <a:prstGeom prst="rect">
            <a:avLst/>
          </a:prstGeom>
          <a:noFill/>
          <a:ln/>
        </p:spPr>
        <p:txBody>
          <a:bodyPr wrap="square" lIns="0" tIns="0" rIns="0" bIns="0" rtlCol="0" anchor="ctr"/>
          <a:lstStyle/>
          <a:p>
            <a:pPr algn="ctr" indent="0" marL="0">
              <a:buNone/>
            </a:pPr>
            <a:r>
              <a:rPr lang="en-US" sz="2600" b="1" dirty="0">
                <a:solidFill>
                  <a:srgbClr val="1E2761"/>
                </a:solidFill>
                <a:latin typeface="Cambria" pitchFamily="34" charset="0"/>
                <a:ea typeface="Cambria" pitchFamily="34" charset="-122"/>
                <a:cs typeface="Cambria" pitchFamily="34" charset="-120"/>
              </a:rPr>
              <a:t>1</a:t>
            </a:r>
            <a:endParaRPr lang="en-US" sz="2600" dirty="0"/>
          </a:p>
        </p:txBody>
      </p:sp>
      <p:sp>
        <p:nvSpPr>
          <p:cNvPr id="7" name="Text 5"/>
          <p:cNvSpPr/>
          <p:nvPr/>
        </p:nvSpPr>
        <p:spPr>
          <a:xfrm>
            <a:off x="914400" y="3520440"/>
            <a:ext cx="2971800" cy="457200"/>
          </a:xfrm>
          <a:prstGeom prst="rect">
            <a:avLst/>
          </a:prstGeom>
          <a:noFill/>
          <a:ln/>
        </p:spPr>
        <p:txBody>
          <a:bodyPr wrap="square" lIns="0" tIns="0" rIns="0" bIns="0" rtlCol="0" anchor="ctr"/>
          <a:lstStyle/>
          <a:p>
            <a:pPr algn="ctr" indent="0" marL="0">
              <a:buNone/>
            </a:pPr>
            <a:r>
              <a:rPr lang="en-US" sz="1800" b="1" dirty="0">
                <a:solidFill>
                  <a:srgbClr val="1E2761"/>
                </a:solidFill>
                <a:latin typeface="Cambria" pitchFamily="34" charset="0"/>
                <a:ea typeface="Cambria" pitchFamily="34" charset="-122"/>
                <a:cs typeface="Cambria" pitchFamily="34" charset="-120"/>
              </a:rPr>
              <a:t>Your resume</a:t>
            </a:r>
            <a:endParaRPr lang="en-US" sz="1800" dirty="0"/>
          </a:p>
        </p:txBody>
      </p:sp>
      <p:sp>
        <p:nvSpPr>
          <p:cNvPr id="8" name="Text 6"/>
          <p:cNvSpPr/>
          <p:nvPr/>
        </p:nvSpPr>
        <p:spPr>
          <a:xfrm>
            <a:off x="914400" y="3977640"/>
            <a:ext cx="2971800" cy="914400"/>
          </a:xfrm>
          <a:prstGeom prst="rect">
            <a:avLst/>
          </a:prstGeom>
          <a:noFill/>
          <a:ln/>
        </p:spPr>
        <p:txBody>
          <a:bodyPr wrap="square" lIns="0" tIns="0" rIns="0" bIns="0" rtlCol="0" anchor="ctr"/>
          <a:lstStyle/>
          <a:p>
            <a:pPr algn="ctr" indent="0" marL="0">
              <a:buNone/>
            </a:pPr>
            <a:r>
              <a:rPr lang="en-US" sz="1350" dirty="0">
                <a:solidFill>
                  <a:srgbClr val="5B6472"/>
                </a:solidFill>
                <a:latin typeface="Calibri" pitchFamily="34" charset="0"/>
                <a:ea typeface="Calibri" pitchFamily="34" charset="-122"/>
                <a:cs typeface="Calibri" pitchFamily="34" charset="-120"/>
              </a:rPr>
              <a:t>Any format. It reads it and builds your profile from it.</a:t>
            </a:r>
            <a:endParaRPr lang="en-US" sz="1350" dirty="0"/>
          </a:p>
        </p:txBody>
      </p:sp>
      <p:sp>
        <p:nvSpPr>
          <p:cNvPr id="9" name="Shape 7"/>
          <p:cNvSpPr/>
          <p:nvPr/>
        </p:nvSpPr>
        <p:spPr>
          <a:xfrm>
            <a:off x="4343400" y="2194560"/>
            <a:ext cx="3520440" cy="2743200"/>
          </a:xfrm>
          <a:prstGeom prst="roundRect">
            <a:avLst>
              <a:gd name="adj" fmla="val 3000"/>
            </a:avLst>
          </a:prstGeom>
          <a:solidFill>
            <a:srgbClr val="FFFFFF"/>
          </a:solidFill>
          <a:ln/>
          <a:effectLst>
            <a:outerShdw sx="100000" sy="100000" kx="0" ky="0" algn="bl" rotWithShape="0" blurRad="88900" dist="38100" dir="5400000">
              <a:srgbClr val="9AA6BF">
                <a:alpha val="28000"/>
              </a:srgbClr>
            </a:outerShdw>
          </a:effectLst>
        </p:spPr>
      </p:sp>
      <p:sp>
        <p:nvSpPr>
          <p:cNvPr id="10" name="Shape 8"/>
          <p:cNvSpPr/>
          <p:nvPr/>
        </p:nvSpPr>
        <p:spPr>
          <a:xfrm>
            <a:off x="5715000" y="2514600"/>
            <a:ext cx="777240" cy="777240"/>
          </a:xfrm>
          <a:prstGeom prst="ellipse">
            <a:avLst/>
          </a:prstGeom>
          <a:solidFill>
            <a:srgbClr val="02C39A"/>
          </a:solidFill>
          <a:ln/>
        </p:spPr>
      </p:sp>
      <p:sp>
        <p:nvSpPr>
          <p:cNvPr id="11" name="Text 9"/>
          <p:cNvSpPr/>
          <p:nvPr/>
        </p:nvSpPr>
        <p:spPr>
          <a:xfrm>
            <a:off x="5715000" y="2514600"/>
            <a:ext cx="777240" cy="777240"/>
          </a:xfrm>
          <a:prstGeom prst="rect">
            <a:avLst/>
          </a:prstGeom>
          <a:noFill/>
          <a:ln/>
        </p:spPr>
        <p:txBody>
          <a:bodyPr wrap="square" lIns="0" tIns="0" rIns="0" bIns="0" rtlCol="0" anchor="ctr"/>
          <a:lstStyle/>
          <a:p>
            <a:pPr algn="ctr" indent="0" marL="0">
              <a:buNone/>
            </a:pPr>
            <a:r>
              <a:rPr lang="en-US" sz="2600" b="1" dirty="0">
                <a:solidFill>
                  <a:srgbClr val="1E2761"/>
                </a:solidFill>
                <a:latin typeface="Cambria" pitchFamily="34" charset="0"/>
                <a:ea typeface="Cambria" pitchFamily="34" charset="-122"/>
                <a:cs typeface="Cambria" pitchFamily="34" charset="-120"/>
              </a:rPr>
              <a:t>2</a:t>
            </a:r>
            <a:endParaRPr lang="en-US" sz="2600" dirty="0"/>
          </a:p>
        </p:txBody>
      </p:sp>
      <p:sp>
        <p:nvSpPr>
          <p:cNvPr id="12" name="Text 10"/>
          <p:cNvSpPr/>
          <p:nvPr/>
        </p:nvSpPr>
        <p:spPr>
          <a:xfrm>
            <a:off x="4617720" y="3520440"/>
            <a:ext cx="2971800" cy="457200"/>
          </a:xfrm>
          <a:prstGeom prst="rect">
            <a:avLst/>
          </a:prstGeom>
          <a:noFill/>
          <a:ln/>
        </p:spPr>
        <p:txBody>
          <a:bodyPr wrap="square" lIns="0" tIns="0" rIns="0" bIns="0" rtlCol="0" anchor="ctr"/>
          <a:lstStyle/>
          <a:p>
            <a:pPr algn="ctr" indent="0" marL="0">
              <a:buNone/>
            </a:pPr>
            <a:r>
              <a:rPr lang="en-US" sz="1800" b="1" dirty="0">
                <a:solidFill>
                  <a:srgbClr val="1E2761"/>
                </a:solidFill>
                <a:latin typeface="Cambria" pitchFamily="34" charset="0"/>
                <a:ea typeface="Cambria" pitchFamily="34" charset="-122"/>
                <a:cs typeface="Cambria" pitchFamily="34" charset="-120"/>
              </a:rPr>
              <a:t>A folder</a:t>
            </a:r>
            <a:endParaRPr lang="en-US" sz="1800" dirty="0"/>
          </a:p>
        </p:txBody>
      </p:sp>
      <p:sp>
        <p:nvSpPr>
          <p:cNvPr id="13" name="Text 11"/>
          <p:cNvSpPr/>
          <p:nvPr/>
        </p:nvSpPr>
        <p:spPr>
          <a:xfrm>
            <a:off x="4617720" y="3977640"/>
            <a:ext cx="2971800" cy="914400"/>
          </a:xfrm>
          <a:prstGeom prst="rect">
            <a:avLst/>
          </a:prstGeom>
          <a:noFill/>
          <a:ln/>
        </p:spPr>
        <p:txBody>
          <a:bodyPr wrap="square" lIns="0" tIns="0" rIns="0" bIns="0" rtlCol="0" anchor="ctr"/>
          <a:lstStyle/>
          <a:p>
            <a:pPr algn="ctr" indent="0" marL="0">
              <a:buNone/>
            </a:pPr>
            <a:r>
              <a:rPr lang="en-US" sz="1350" dirty="0">
                <a:solidFill>
                  <a:srgbClr val="5B6472"/>
                </a:solidFill>
                <a:latin typeface="Calibri" pitchFamily="34" charset="0"/>
                <a:ea typeface="Calibri" pitchFamily="34" charset="-122"/>
                <a:cs typeface="Calibri" pitchFamily="34" charset="-120"/>
              </a:rPr>
              <a:t>An empty folder for the search. Your data lives here, on your machine, and nowhere else.</a:t>
            </a:r>
            <a:endParaRPr lang="en-US" sz="1350" dirty="0"/>
          </a:p>
        </p:txBody>
      </p:sp>
      <p:sp>
        <p:nvSpPr>
          <p:cNvPr id="14" name="Shape 12"/>
          <p:cNvSpPr/>
          <p:nvPr/>
        </p:nvSpPr>
        <p:spPr>
          <a:xfrm>
            <a:off x="8046720" y="2194560"/>
            <a:ext cx="3520440" cy="2743200"/>
          </a:xfrm>
          <a:prstGeom prst="roundRect">
            <a:avLst>
              <a:gd name="adj" fmla="val 3000"/>
            </a:avLst>
          </a:prstGeom>
          <a:solidFill>
            <a:srgbClr val="FFFFFF"/>
          </a:solidFill>
          <a:ln/>
          <a:effectLst>
            <a:outerShdw sx="100000" sy="100000" kx="0" ky="0" algn="bl" rotWithShape="0" blurRad="88900" dist="38100" dir="5400000">
              <a:srgbClr val="9AA6BF">
                <a:alpha val="28000"/>
              </a:srgbClr>
            </a:outerShdw>
          </a:effectLst>
        </p:spPr>
      </p:sp>
      <p:sp>
        <p:nvSpPr>
          <p:cNvPr id="15" name="Shape 13"/>
          <p:cNvSpPr/>
          <p:nvPr/>
        </p:nvSpPr>
        <p:spPr>
          <a:xfrm>
            <a:off x="9418320" y="2514600"/>
            <a:ext cx="777240" cy="777240"/>
          </a:xfrm>
          <a:prstGeom prst="ellipse">
            <a:avLst/>
          </a:prstGeom>
          <a:solidFill>
            <a:srgbClr val="02C39A"/>
          </a:solidFill>
          <a:ln/>
        </p:spPr>
      </p:sp>
      <p:sp>
        <p:nvSpPr>
          <p:cNvPr id="16" name="Text 14"/>
          <p:cNvSpPr/>
          <p:nvPr/>
        </p:nvSpPr>
        <p:spPr>
          <a:xfrm>
            <a:off x="9418320" y="2514600"/>
            <a:ext cx="777240" cy="777240"/>
          </a:xfrm>
          <a:prstGeom prst="rect">
            <a:avLst/>
          </a:prstGeom>
          <a:noFill/>
          <a:ln/>
        </p:spPr>
        <p:txBody>
          <a:bodyPr wrap="square" lIns="0" tIns="0" rIns="0" bIns="0" rtlCol="0" anchor="ctr"/>
          <a:lstStyle/>
          <a:p>
            <a:pPr algn="ctr" indent="0" marL="0">
              <a:buNone/>
            </a:pPr>
            <a:r>
              <a:rPr lang="en-US" sz="2600" b="1" dirty="0">
                <a:solidFill>
                  <a:srgbClr val="1E2761"/>
                </a:solidFill>
                <a:latin typeface="Cambria" pitchFamily="34" charset="0"/>
                <a:ea typeface="Cambria" pitchFamily="34" charset="-122"/>
                <a:cs typeface="Cambria" pitchFamily="34" charset="-120"/>
              </a:rPr>
              <a:t>3</a:t>
            </a:r>
            <a:endParaRPr lang="en-US" sz="2600" dirty="0"/>
          </a:p>
        </p:txBody>
      </p:sp>
      <p:sp>
        <p:nvSpPr>
          <p:cNvPr id="17" name="Text 15"/>
          <p:cNvSpPr/>
          <p:nvPr/>
        </p:nvSpPr>
        <p:spPr>
          <a:xfrm>
            <a:off x="8321040" y="3520440"/>
            <a:ext cx="2971800" cy="457200"/>
          </a:xfrm>
          <a:prstGeom prst="rect">
            <a:avLst/>
          </a:prstGeom>
          <a:noFill/>
          <a:ln/>
        </p:spPr>
        <p:txBody>
          <a:bodyPr wrap="square" lIns="0" tIns="0" rIns="0" bIns="0" rtlCol="0" anchor="ctr"/>
          <a:lstStyle/>
          <a:p>
            <a:pPr algn="ctr" indent="0" marL="0">
              <a:buNone/>
            </a:pPr>
            <a:r>
              <a:rPr lang="en-US" sz="1800" b="1" dirty="0">
                <a:solidFill>
                  <a:srgbClr val="1E2761"/>
                </a:solidFill>
                <a:latin typeface="Cambria" pitchFamily="34" charset="0"/>
                <a:ea typeface="Cambria" pitchFamily="34" charset="-122"/>
                <a:cs typeface="Cambria" pitchFamily="34" charset="-120"/>
              </a:rPr>
              <a:t>The skill installed</a:t>
            </a:r>
            <a:endParaRPr lang="en-US" sz="1800" dirty="0"/>
          </a:p>
        </p:txBody>
      </p:sp>
      <p:sp>
        <p:nvSpPr>
          <p:cNvPr id="18" name="Text 16"/>
          <p:cNvSpPr/>
          <p:nvPr/>
        </p:nvSpPr>
        <p:spPr>
          <a:xfrm>
            <a:off x="8321040" y="3977640"/>
            <a:ext cx="2971800" cy="914400"/>
          </a:xfrm>
          <a:prstGeom prst="rect">
            <a:avLst/>
          </a:prstGeom>
          <a:noFill/>
          <a:ln/>
        </p:spPr>
        <p:txBody>
          <a:bodyPr wrap="square" lIns="0" tIns="0" rIns="0" bIns="0" rtlCol="0" anchor="ctr"/>
          <a:lstStyle/>
          <a:p>
            <a:pPr algn="ctr" indent="0" marL="0">
              <a:buNone/>
            </a:pPr>
            <a:r>
              <a:rPr lang="en-US" sz="1350" dirty="0">
                <a:solidFill>
                  <a:srgbClr val="5B6472"/>
                </a:solidFill>
                <a:latin typeface="Calibri" pitchFamily="34" charset="0"/>
                <a:ea typeface="Calibri" pitchFamily="34" charset="-122"/>
                <a:cs typeface="Calibri" pitchFamily="34" charset="-120"/>
              </a:rPr>
              <a:t>Save the skill in Cowork, or point Claude Code at the repo.</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640080" y="502920"/>
            <a:ext cx="7315200" cy="36576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GETTING GOING</a:t>
            </a:r>
            <a:endParaRPr lang="en-US" sz="1300" dirty="0"/>
          </a:p>
        </p:txBody>
      </p:sp>
      <p:sp>
        <p:nvSpPr>
          <p:cNvPr id="3" name="Text 1"/>
          <p:cNvSpPr/>
          <p:nvPr/>
        </p:nvSpPr>
        <p:spPr>
          <a:xfrm>
            <a:off x="640080" y="841248"/>
            <a:ext cx="10881360" cy="1005840"/>
          </a:xfrm>
          <a:prstGeom prst="rect">
            <a:avLst/>
          </a:prstGeom>
          <a:noFill/>
          <a:ln/>
        </p:spPr>
        <p:txBody>
          <a:bodyPr wrap="square" lIns="0" tIns="0" rIns="0" bIns="0" rtlCol="0" anchor="ctr"/>
          <a:lstStyle/>
          <a:p>
            <a:pPr indent="0" marL="0">
              <a:buNone/>
            </a:pPr>
            <a:r>
              <a:rPr lang="en-US" sz="3300" b="1" dirty="0">
                <a:solidFill>
                  <a:srgbClr val="1E2761"/>
                </a:solidFill>
                <a:latin typeface="Cambria" pitchFamily="34" charset="0"/>
                <a:ea typeface="Cambria" pitchFamily="34" charset="-122"/>
                <a:cs typeface="Cambria" pitchFamily="34" charset="-120"/>
              </a:rPr>
              <a:t>Install, set up, schedule</a:t>
            </a:r>
            <a:endParaRPr lang="en-US" sz="3300" dirty="0"/>
          </a:p>
        </p:txBody>
      </p:sp>
      <p:sp>
        <p:nvSpPr>
          <p:cNvPr id="4" name="Shape 2"/>
          <p:cNvSpPr/>
          <p:nvPr/>
        </p:nvSpPr>
        <p:spPr>
          <a:xfrm>
            <a:off x="640080" y="1965960"/>
            <a:ext cx="10881360" cy="1234440"/>
          </a:xfrm>
          <a:prstGeom prst="roundRect">
            <a:avLst>
              <a:gd name="adj" fmla="val 6667"/>
            </a:avLst>
          </a:prstGeom>
          <a:solidFill>
            <a:srgbClr val="FFFFFF"/>
          </a:solidFill>
          <a:ln/>
          <a:effectLst>
            <a:outerShdw sx="100000" sy="100000" kx="0" ky="0" algn="bl" rotWithShape="0" blurRad="88900" dist="38100" dir="5400000">
              <a:srgbClr val="9AA6BF">
                <a:alpha val="28000"/>
              </a:srgbClr>
            </a:outerShdw>
          </a:effectLst>
        </p:spPr>
      </p:sp>
      <p:sp>
        <p:nvSpPr>
          <p:cNvPr id="5" name="Shape 3"/>
          <p:cNvSpPr/>
          <p:nvPr/>
        </p:nvSpPr>
        <p:spPr>
          <a:xfrm>
            <a:off x="914400" y="2267712"/>
            <a:ext cx="621792" cy="621792"/>
          </a:xfrm>
          <a:prstGeom prst="ellipse">
            <a:avLst/>
          </a:prstGeom>
          <a:solidFill>
            <a:srgbClr val="1E2761"/>
          </a:solidFill>
          <a:ln/>
        </p:spPr>
      </p:sp>
      <p:sp>
        <p:nvSpPr>
          <p:cNvPr id="6" name="Text 4"/>
          <p:cNvSpPr/>
          <p:nvPr/>
        </p:nvSpPr>
        <p:spPr>
          <a:xfrm>
            <a:off x="914400" y="2267712"/>
            <a:ext cx="621792" cy="621792"/>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1828800" y="2121408"/>
            <a:ext cx="2743200" cy="411480"/>
          </a:xfrm>
          <a:prstGeom prst="rect">
            <a:avLst/>
          </a:prstGeom>
          <a:noFill/>
          <a:ln/>
        </p:spPr>
        <p:txBody>
          <a:bodyPr wrap="square" lIns="0" tIns="0" rIns="0" bIns="0" rtlCol="0" anchor="ctr"/>
          <a:lstStyle/>
          <a:p>
            <a:pPr indent="0" marL="0">
              <a:buNone/>
            </a:pPr>
            <a:r>
              <a:rPr lang="en-US" sz="1900" b="1" dirty="0">
                <a:solidFill>
                  <a:srgbClr val="1E2761"/>
                </a:solidFill>
                <a:latin typeface="Cambria" pitchFamily="34" charset="0"/>
                <a:ea typeface="Cambria" pitchFamily="34" charset="-122"/>
                <a:cs typeface="Cambria" pitchFamily="34" charset="-120"/>
              </a:rPr>
              <a:t>Install</a:t>
            </a:r>
            <a:endParaRPr lang="en-US" sz="1900" dirty="0"/>
          </a:p>
        </p:txBody>
      </p:sp>
      <p:sp>
        <p:nvSpPr>
          <p:cNvPr id="8" name="Text 6"/>
          <p:cNvSpPr/>
          <p:nvPr/>
        </p:nvSpPr>
        <p:spPr>
          <a:xfrm>
            <a:off x="1828800" y="2542032"/>
            <a:ext cx="9418320" cy="566928"/>
          </a:xfrm>
          <a:prstGeom prst="rect">
            <a:avLst/>
          </a:prstGeom>
          <a:noFill/>
          <a:ln/>
        </p:spPr>
        <p:txBody>
          <a:bodyPr wrap="square" lIns="0" tIns="0" rIns="0" bIns="0" rtlCol="0" anchor="ctr"/>
          <a:lstStyle/>
          <a:p>
            <a:pPr indent="0" marL="0">
              <a:buNone/>
            </a:pPr>
            <a:r>
              <a:rPr lang="en-US" sz="1350" dirty="0">
                <a:solidFill>
                  <a:srgbClr val="5B6472"/>
                </a:solidFill>
                <a:latin typeface="Calibri" pitchFamily="34" charset="0"/>
                <a:ea typeface="Calibri" pitchFamily="34" charset="-122"/>
                <a:cs typeface="Calibri" pitchFamily="34" charset="-120"/>
              </a:rPr>
              <a:t>Cowork: open the .skill file and Save skill. Claude Code: clone the repo, symlink each skill into ~/.claude/skills. No enable step, no config.</a:t>
            </a:r>
            <a:endParaRPr lang="en-US" sz="1350" dirty="0"/>
          </a:p>
        </p:txBody>
      </p:sp>
      <p:sp>
        <p:nvSpPr>
          <p:cNvPr id="9" name="Shape 7"/>
          <p:cNvSpPr/>
          <p:nvPr/>
        </p:nvSpPr>
        <p:spPr>
          <a:xfrm>
            <a:off x="640080" y="3383280"/>
            <a:ext cx="10881360" cy="1234440"/>
          </a:xfrm>
          <a:prstGeom prst="roundRect">
            <a:avLst>
              <a:gd name="adj" fmla="val 6667"/>
            </a:avLst>
          </a:prstGeom>
          <a:solidFill>
            <a:srgbClr val="FFFFFF"/>
          </a:solidFill>
          <a:ln/>
          <a:effectLst>
            <a:outerShdw sx="100000" sy="100000" kx="0" ky="0" algn="bl" rotWithShape="0" blurRad="88900" dist="38100" dir="5400000">
              <a:srgbClr val="9AA6BF">
                <a:alpha val="28000"/>
              </a:srgbClr>
            </a:outerShdw>
          </a:effectLst>
        </p:spPr>
      </p:sp>
      <p:sp>
        <p:nvSpPr>
          <p:cNvPr id="10" name="Shape 8"/>
          <p:cNvSpPr/>
          <p:nvPr/>
        </p:nvSpPr>
        <p:spPr>
          <a:xfrm>
            <a:off x="914400" y="3685032"/>
            <a:ext cx="621792" cy="621792"/>
          </a:xfrm>
          <a:prstGeom prst="ellipse">
            <a:avLst/>
          </a:prstGeom>
          <a:solidFill>
            <a:srgbClr val="1E2761"/>
          </a:solidFill>
          <a:ln/>
        </p:spPr>
      </p:sp>
      <p:sp>
        <p:nvSpPr>
          <p:cNvPr id="11" name="Text 9"/>
          <p:cNvSpPr/>
          <p:nvPr/>
        </p:nvSpPr>
        <p:spPr>
          <a:xfrm>
            <a:off x="914400" y="3685032"/>
            <a:ext cx="621792" cy="621792"/>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2" name="Text 10"/>
          <p:cNvSpPr/>
          <p:nvPr/>
        </p:nvSpPr>
        <p:spPr>
          <a:xfrm>
            <a:off x="1828800" y="3538728"/>
            <a:ext cx="2743200" cy="411480"/>
          </a:xfrm>
          <a:prstGeom prst="rect">
            <a:avLst/>
          </a:prstGeom>
          <a:noFill/>
          <a:ln/>
        </p:spPr>
        <p:txBody>
          <a:bodyPr wrap="square" lIns="0" tIns="0" rIns="0" bIns="0" rtlCol="0" anchor="ctr"/>
          <a:lstStyle/>
          <a:p>
            <a:pPr indent="0" marL="0">
              <a:buNone/>
            </a:pPr>
            <a:r>
              <a:rPr lang="en-US" sz="1900" b="1" dirty="0">
                <a:solidFill>
                  <a:srgbClr val="1E2761"/>
                </a:solidFill>
                <a:latin typeface="Cambria" pitchFamily="34" charset="0"/>
                <a:ea typeface="Cambria" pitchFamily="34" charset="-122"/>
                <a:cs typeface="Cambria" pitchFamily="34" charset="-120"/>
              </a:rPr>
              <a:t>Set up</a:t>
            </a:r>
            <a:endParaRPr lang="en-US" sz="1900" dirty="0"/>
          </a:p>
        </p:txBody>
      </p:sp>
      <p:sp>
        <p:nvSpPr>
          <p:cNvPr id="13" name="Text 11"/>
          <p:cNvSpPr/>
          <p:nvPr/>
        </p:nvSpPr>
        <p:spPr>
          <a:xfrm>
            <a:off x="1828800" y="3959352"/>
            <a:ext cx="9418320" cy="566928"/>
          </a:xfrm>
          <a:prstGeom prst="rect">
            <a:avLst/>
          </a:prstGeom>
          <a:noFill/>
          <a:ln/>
        </p:spPr>
        <p:txBody>
          <a:bodyPr wrap="square" lIns="0" tIns="0" rIns="0" bIns="0" rtlCol="0" anchor="ctr"/>
          <a:lstStyle/>
          <a:p>
            <a:pPr indent="0" marL="0">
              <a:buNone/>
            </a:pPr>
            <a:r>
              <a:rPr lang="en-US" sz="1350" dirty="0">
                <a:solidFill>
                  <a:srgbClr val="5B6472"/>
                </a:solidFill>
                <a:latin typeface="Calibri" pitchFamily="34" charset="0"/>
                <a:ea typeface="Calibri" pitchFamily="34" charset="-122"/>
                <a:cs typeface="Calibri" pitchFamily="34" charset="-120"/>
              </a:rPr>
              <a:t>Say “set up my job scan” and hand over your resume. It interviews you: what you want, your real constraints, and the honesty questions.</a:t>
            </a:r>
            <a:endParaRPr lang="en-US" sz="1350" dirty="0"/>
          </a:p>
        </p:txBody>
      </p:sp>
      <p:sp>
        <p:nvSpPr>
          <p:cNvPr id="14" name="Shape 12"/>
          <p:cNvSpPr/>
          <p:nvPr/>
        </p:nvSpPr>
        <p:spPr>
          <a:xfrm>
            <a:off x="640080" y="4800600"/>
            <a:ext cx="10881360" cy="1234440"/>
          </a:xfrm>
          <a:prstGeom prst="roundRect">
            <a:avLst>
              <a:gd name="adj" fmla="val 6667"/>
            </a:avLst>
          </a:prstGeom>
          <a:solidFill>
            <a:srgbClr val="FFFFFF"/>
          </a:solidFill>
          <a:ln/>
          <a:effectLst>
            <a:outerShdw sx="100000" sy="100000" kx="0" ky="0" algn="bl" rotWithShape="0" blurRad="88900" dist="38100" dir="5400000">
              <a:srgbClr val="9AA6BF">
                <a:alpha val="28000"/>
              </a:srgbClr>
            </a:outerShdw>
          </a:effectLst>
        </p:spPr>
      </p:sp>
      <p:sp>
        <p:nvSpPr>
          <p:cNvPr id="15" name="Shape 13"/>
          <p:cNvSpPr/>
          <p:nvPr/>
        </p:nvSpPr>
        <p:spPr>
          <a:xfrm>
            <a:off x="914400" y="5102352"/>
            <a:ext cx="621792" cy="621792"/>
          </a:xfrm>
          <a:prstGeom prst="ellipse">
            <a:avLst/>
          </a:prstGeom>
          <a:solidFill>
            <a:srgbClr val="1E2761"/>
          </a:solidFill>
          <a:ln/>
        </p:spPr>
      </p:sp>
      <p:sp>
        <p:nvSpPr>
          <p:cNvPr id="16" name="Text 14"/>
          <p:cNvSpPr/>
          <p:nvPr/>
        </p:nvSpPr>
        <p:spPr>
          <a:xfrm>
            <a:off x="914400" y="5102352"/>
            <a:ext cx="621792" cy="621792"/>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7" name="Text 15"/>
          <p:cNvSpPr/>
          <p:nvPr/>
        </p:nvSpPr>
        <p:spPr>
          <a:xfrm>
            <a:off x="1828800" y="4956048"/>
            <a:ext cx="2743200" cy="411480"/>
          </a:xfrm>
          <a:prstGeom prst="rect">
            <a:avLst/>
          </a:prstGeom>
          <a:noFill/>
          <a:ln/>
        </p:spPr>
        <p:txBody>
          <a:bodyPr wrap="square" lIns="0" tIns="0" rIns="0" bIns="0" rtlCol="0" anchor="ctr"/>
          <a:lstStyle/>
          <a:p>
            <a:pPr indent="0" marL="0">
              <a:buNone/>
            </a:pPr>
            <a:r>
              <a:rPr lang="en-US" sz="1900" b="1" dirty="0">
                <a:solidFill>
                  <a:srgbClr val="1E2761"/>
                </a:solidFill>
                <a:latin typeface="Cambria" pitchFamily="34" charset="0"/>
                <a:ea typeface="Cambria" pitchFamily="34" charset="-122"/>
                <a:cs typeface="Cambria" pitchFamily="34" charset="-120"/>
              </a:rPr>
              <a:t>Schedule</a:t>
            </a:r>
            <a:endParaRPr lang="en-US" sz="1900" dirty="0"/>
          </a:p>
        </p:txBody>
      </p:sp>
      <p:sp>
        <p:nvSpPr>
          <p:cNvPr id="18" name="Text 16"/>
          <p:cNvSpPr/>
          <p:nvPr/>
        </p:nvSpPr>
        <p:spPr>
          <a:xfrm>
            <a:off x="1828800" y="5376672"/>
            <a:ext cx="9418320" cy="566928"/>
          </a:xfrm>
          <a:prstGeom prst="rect">
            <a:avLst/>
          </a:prstGeom>
          <a:noFill/>
          <a:ln/>
        </p:spPr>
        <p:txBody>
          <a:bodyPr wrap="square" lIns="0" tIns="0" rIns="0" bIns="0" rtlCol="0" anchor="ctr"/>
          <a:lstStyle/>
          <a:p>
            <a:pPr indent="0" marL="0">
              <a:buNone/>
            </a:pPr>
            <a:r>
              <a:rPr lang="en-US" sz="1350" dirty="0">
                <a:solidFill>
                  <a:srgbClr val="5B6472"/>
                </a:solidFill>
                <a:latin typeface="Calibri" pitchFamily="34" charset="0"/>
                <a:ea typeface="Calibri" pitchFamily="34" charset="-122"/>
                <a:cs typeface="Calibri" pitchFamily="34" charset="-120"/>
              </a:rPr>
              <a:t>Setup hands you a prompt. Drop it into a daily scheduled task. It now runs every morning on its own.</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640080" y="502920"/>
            <a:ext cx="7315200" cy="365760"/>
          </a:xfrm>
          <a:prstGeom prst="rect">
            <a:avLst/>
          </a:prstGeom>
          <a:noFill/>
          <a:ln/>
        </p:spPr>
        <p:txBody>
          <a:bodyPr wrap="square" lIns="0" tIns="0" rIns="0" bIns="0" rtlCol="0" anchor="ctr"/>
          <a:lstStyle/>
          <a:p>
            <a:pPr indent="0" marL="0">
              <a:buNone/>
            </a:pPr>
            <a:r>
              <a:rPr lang="en-US" sz="1300" b="1" spc="300" kern="0" dirty="0">
                <a:solidFill>
                  <a:srgbClr val="F96167"/>
                </a:solidFill>
                <a:latin typeface="Calibri" pitchFamily="34" charset="0"/>
                <a:ea typeface="Calibri" pitchFamily="34" charset="-122"/>
                <a:cs typeface="Calibri" pitchFamily="34" charset="-120"/>
              </a:rPr>
              <a:t>THE PART THAT MAKES IT TRUSTWORTHY</a:t>
            </a:r>
            <a:endParaRPr lang="en-US" sz="1300" dirty="0"/>
          </a:p>
        </p:txBody>
      </p:sp>
      <p:sp>
        <p:nvSpPr>
          <p:cNvPr id="3" name="Text 1"/>
          <p:cNvSpPr/>
          <p:nvPr/>
        </p:nvSpPr>
        <p:spPr>
          <a:xfrm>
            <a:off x="640080" y="841248"/>
            <a:ext cx="10881360" cy="1005840"/>
          </a:xfrm>
          <a:prstGeom prst="rect">
            <a:avLst/>
          </a:prstGeom>
          <a:noFill/>
          <a:ln/>
        </p:spPr>
        <p:txBody>
          <a:bodyPr wrap="square" lIns="0" tIns="0" rIns="0" bIns="0" rtlCol="0" anchor="ctr"/>
          <a:lstStyle/>
          <a:p>
            <a:pPr indent="0" marL="0">
              <a:buNone/>
            </a:pPr>
            <a:r>
              <a:rPr lang="en-US" sz="3300" b="1" dirty="0">
                <a:solidFill>
                  <a:srgbClr val="1E2761"/>
                </a:solidFill>
                <a:latin typeface="Cambria" pitchFamily="34" charset="0"/>
                <a:ea typeface="Cambria" pitchFamily="34" charset="-122"/>
                <a:cs typeface="Cambria" pitchFamily="34" charset="-120"/>
              </a:rPr>
              <a:t>It asks for the honest version</a:t>
            </a:r>
            <a:endParaRPr lang="en-US" sz="3300" dirty="0"/>
          </a:p>
        </p:txBody>
      </p:sp>
      <p:sp>
        <p:nvSpPr>
          <p:cNvPr id="4" name="Shape 2"/>
          <p:cNvSpPr/>
          <p:nvPr/>
        </p:nvSpPr>
        <p:spPr>
          <a:xfrm>
            <a:off x="640080" y="1965960"/>
            <a:ext cx="6583680" cy="3566160"/>
          </a:xfrm>
          <a:prstGeom prst="roundRect">
            <a:avLst>
              <a:gd name="adj" fmla="val 2308"/>
            </a:avLst>
          </a:prstGeom>
          <a:solidFill>
            <a:srgbClr val="FFFFFF"/>
          </a:solidFill>
          <a:ln/>
          <a:effectLst>
            <a:outerShdw sx="100000" sy="100000" kx="0" ky="0" algn="bl" rotWithShape="0" blurRad="88900" dist="38100" dir="5400000">
              <a:srgbClr val="9AA6BF">
                <a:alpha val="28000"/>
              </a:srgbClr>
            </a:outerShdw>
          </a:effectLst>
        </p:spPr>
      </p:sp>
      <p:sp>
        <p:nvSpPr>
          <p:cNvPr id="5" name="Text 3"/>
          <p:cNvSpPr/>
          <p:nvPr/>
        </p:nvSpPr>
        <p:spPr>
          <a:xfrm>
            <a:off x="960120" y="2286000"/>
            <a:ext cx="5943600" cy="1371600"/>
          </a:xfrm>
          <a:prstGeom prst="rect">
            <a:avLst/>
          </a:prstGeom>
          <a:noFill/>
          <a:ln/>
        </p:spPr>
        <p:txBody>
          <a:bodyPr wrap="square" lIns="0" tIns="0" rIns="0" bIns="0" rtlCol="0" anchor="ctr"/>
          <a:lstStyle/>
          <a:p>
            <a:pPr indent="0" marL="0">
              <a:buNone/>
            </a:pPr>
            <a:r>
              <a:rPr lang="en-US" sz="2000" b="1" i="1" dirty="0">
                <a:solidFill>
                  <a:srgbClr val="1E2761"/>
                </a:solidFill>
                <a:latin typeface="Cambria" pitchFamily="34" charset="0"/>
                <a:ea typeface="Cambria" pitchFamily="34" charset="-122"/>
                <a:cs typeface="Cambria" pitchFamily="34" charset="-120"/>
              </a:rPr>
              <a:t>“For each thing on your resume that sounds more impressive than it was, tell me the honest version.”</a:t>
            </a:r>
            <a:endParaRPr lang="en-US" sz="2000" dirty="0"/>
          </a:p>
        </p:txBody>
      </p:sp>
      <p:sp>
        <p:nvSpPr>
          <p:cNvPr id="6" name="Text 4"/>
          <p:cNvSpPr/>
          <p:nvPr/>
        </p:nvSpPr>
        <p:spPr>
          <a:xfrm>
            <a:off x="960120" y="3749040"/>
            <a:ext cx="5943600" cy="1554480"/>
          </a:xfrm>
          <a:prstGeom prst="rect">
            <a:avLst/>
          </a:prstGeom>
          <a:noFill/>
          <a:ln/>
        </p:spPr>
        <p:txBody>
          <a:bodyPr wrap="square" lIns="0" tIns="0" rIns="0" bIns="0" rtlCol="0" anchor="ctr"/>
          <a:lstStyle/>
          <a:p>
            <a:pPr marL="190500" indent="-190500">
              <a:spcAft>
                <a:spcPts val="800"/>
              </a:spcAft>
              <a:buSzPct val="100000"/>
              <a:buChar char="•"/>
            </a:pPr>
            <a:r>
              <a:rPr lang="en-US" sz="1400" dirty="0">
                <a:solidFill>
                  <a:srgbClr val="5B6472"/>
                </a:solidFill>
                <a:latin typeface="Calibri" pitchFamily="34" charset="0"/>
                <a:ea typeface="Calibri" pitchFamily="34" charset="-122"/>
                <a:cs typeface="Calibri" pitchFamily="34" charset="-120"/>
              </a:rPr>
              <a:t>Where were you the owner, and where were you next to it?</a:t>
            </a:r>
            <a:endParaRPr lang="en-US" sz="1400" dirty="0"/>
          </a:p>
          <a:p>
            <a:pPr marL="190500" indent="-190500">
              <a:spcAft>
                <a:spcPts val="800"/>
              </a:spcAft>
              <a:buSzPct val="100000"/>
              <a:buChar char="•"/>
            </a:pPr>
            <a:r>
              <a:rPr lang="en-US" sz="1400" dirty="0">
                <a:solidFill>
                  <a:srgbClr val="5B6472"/>
                </a:solidFill>
                <a:latin typeface="Calibri" pitchFamily="34" charset="0"/>
                <a:ea typeface="Calibri" pitchFamily="34" charset="-122"/>
                <a:cs typeface="Calibri" pitchFamily="34" charset="-120"/>
              </a:rPr>
              <a:t>Which tool do people assume you built that you used?</a:t>
            </a:r>
            <a:endParaRPr lang="en-US" sz="1400" dirty="0"/>
          </a:p>
          <a:p>
            <a:pPr marL="190500" indent="-190500">
              <a:spcAft>
                <a:spcPts val="800"/>
              </a:spcAft>
              <a:buSzPct val="100000"/>
              <a:buChar char="•"/>
            </a:pPr>
            <a:r>
              <a:rPr lang="en-US" sz="1400" dirty="0">
                <a:solidFill>
                  <a:srgbClr val="5B6472"/>
                </a:solidFill>
                <a:latin typeface="Calibri" pitchFamily="34" charset="0"/>
                <a:ea typeface="Calibri" pitchFamily="34" charset="-122"/>
                <a:cs typeface="Calibri" pitchFamily="34" charset="-120"/>
              </a:rPr>
              <a:t>Which title overstates the scope?</a:t>
            </a:r>
            <a:endParaRPr lang="en-US" sz="1400" dirty="0"/>
          </a:p>
        </p:txBody>
      </p:sp>
      <p:sp>
        <p:nvSpPr>
          <p:cNvPr id="7" name="Shape 5"/>
          <p:cNvSpPr/>
          <p:nvPr/>
        </p:nvSpPr>
        <p:spPr>
          <a:xfrm>
            <a:off x="7452360" y="1965960"/>
            <a:ext cx="4069080" cy="3566160"/>
          </a:xfrm>
          <a:prstGeom prst="roundRect">
            <a:avLst>
              <a:gd name="adj" fmla="val 2308"/>
            </a:avLst>
          </a:prstGeom>
          <a:solidFill>
            <a:srgbClr val="1E2761"/>
          </a:solidFill>
          <a:ln/>
          <a:effectLst>
            <a:outerShdw sx="100000" sy="100000" kx="0" ky="0" algn="bl" rotWithShape="0" blurRad="88900" dist="38100" dir="5400000">
              <a:srgbClr val="9AA6BF">
                <a:alpha val="28000"/>
              </a:srgbClr>
            </a:outerShdw>
          </a:effectLst>
        </p:spPr>
      </p:sp>
      <p:sp>
        <p:nvSpPr>
          <p:cNvPr id="8" name="Text 6"/>
          <p:cNvSpPr/>
          <p:nvPr/>
        </p:nvSpPr>
        <p:spPr>
          <a:xfrm>
            <a:off x="7772400" y="2286000"/>
            <a:ext cx="3474720" cy="457200"/>
          </a:xfrm>
          <a:prstGeom prst="rect">
            <a:avLst/>
          </a:prstGeom>
          <a:noFill/>
          <a:ln/>
        </p:spPr>
        <p:txBody>
          <a:bodyPr wrap="square" lIns="0" tIns="0" rIns="0" bIns="0" rtlCol="0" anchor="ctr"/>
          <a:lstStyle/>
          <a:p>
            <a:pPr indent="0" marL="0">
              <a:buNone/>
            </a:pPr>
            <a:r>
              <a:rPr lang="en-US" sz="1700" b="1" dirty="0">
                <a:solidFill>
                  <a:srgbClr val="02C39A"/>
                </a:solidFill>
                <a:latin typeface="Cambria" pitchFamily="34" charset="0"/>
                <a:ea typeface="Cambria" pitchFamily="34" charset="-122"/>
                <a:cs typeface="Cambria" pitchFamily="34" charset="-120"/>
              </a:rPr>
              <a:t>Why it matters</a:t>
            </a:r>
            <a:endParaRPr lang="en-US" sz="1700" dirty="0"/>
          </a:p>
        </p:txBody>
      </p:sp>
      <p:sp>
        <p:nvSpPr>
          <p:cNvPr id="9" name="Text 7"/>
          <p:cNvSpPr/>
          <p:nvPr/>
        </p:nvSpPr>
        <p:spPr>
          <a:xfrm>
            <a:off x="7772400" y="2834640"/>
            <a:ext cx="3474720" cy="246888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Your answers become hard rules. From then on it will not write a sentence you'd have to walk back in an interview, no matter how much a posting would reward the overclaim.</a:t>
            </a:r>
            <a:endParaRPr lang="en-US" sz="1400" dirty="0"/>
          </a:p>
          <a:p>
            <a:pPr indent="0" marL="0">
              <a:buNone/>
            </a:pPr>
            <a:endParaRPr lang="en-US" sz="1400" dirty="0"/>
          </a:p>
          <a:p>
            <a:pPr indent="0" marL="0">
              <a:buNone/>
            </a:pPr>
            <a:r>
              <a:rPr lang="en-US" sz="1400" dirty="0">
                <a:solidFill>
                  <a:srgbClr val="CADCFC"/>
                </a:solidFill>
                <a:latin typeface="Calibri" pitchFamily="34" charset="0"/>
                <a:ea typeface="Calibri" pitchFamily="34" charset="-122"/>
                <a:cs typeface="Calibri" pitchFamily="34" charset="-120"/>
              </a:rPr>
              <a:t>Five uncomfortable minutes buys trust in everything it writes.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640080" y="502920"/>
            <a:ext cx="7315200" cy="36576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A MORNING'S RESULT</a:t>
            </a:r>
            <a:endParaRPr lang="en-US" sz="1300" dirty="0"/>
          </a:p>
        </p:txBody>
      </p:sp>
      <p:sp>
        <p:nvSpPr>
          <p:cNvPr id="3" name="Text 1"/>
          <p:cNvSpPr/>
          <p:nvPr/>
        </p:nvSpPr>
        <p:spPr>
          <a:xfrm>
            <a:off x="640080" y="841248"/>
            <a:ext cx="10881360" cy="1005840"/>
          </a:xfrm>
          <a:prstGeom prst="rect">
            <a:avLst/>
          </a:prstGeom>
          <a:noFill/>
          <a:ln/>
        </p:spPr>
        <p:txBody>
          <a:bodyPr wrap="square" lIns="0" tIns="0" rIns="0" bIns="0" rtlCol="0" anchor="ctr"/>
          <a:lstStyle/>
          <a:p>
            <a:pPr indent="0" marL="0">
              <a:buNone/>
            </a:pPr>
            <a:r>
              <a:rPr lang="en-US" sz="3300" b="1" dirty="0">
                <a:solidFill>
                  <a:srgbClr val="1E2761"/>
                </a:solidFill>
                <a:latin typeface="Cambria" pitchFamily="34" charset="0"/>
                <a:ea typeface="Cambria" pitchFamily="34" charset="-122"/>
                <a:cs typeface="Cambria" pitchFamily="34" charset="-120"/>
              </a:rPr>
              <a:t>How to read a match</a:t>
            </a:r>
            <a:endParaRPr lang="en-US" sz="3300" dirty="0"/>
          </a:p>
        </p:txBody>
      </p:sp>
      <p:sp>
        <p:nvSpPr>
          <p:cNvPr id="4" name="Shape 2"/>
          <p:cNvSpPr/>
          <p:nvPr/>
        </p:nvSpPr>
        <p:spPr>
          <a:xfrm>
            <a:off x="640080" y="1965960"/>
            <a:ext cx="6766560" cy="3566160"/>
          </a:xfrm>
          <a:prstGeom prst="roundRect">
            <a:avLst>
              <a:gd name="adj" fmla="val 2308"/>
            </a:avLst>
          </a:prstGeom>
          <a:solidFill>
            <a:srgbClr val="FFFFFF"/>
          </a:solidFill>
          <a:ln/>
          <a:effectLst>
            <a:outerShdw sx="100000" sy="100000" kx="0" ky="0" algn="bl" rotWithShape="0" blurRad="88900" dist="38100" dir="5400000">
              <a:srgbClr val="9AA6BF">
                <a:alpha val="28000"/>
              </a:srgbClr>
            </a:outerShdw>
          </a:effectLst>
        </p:spPr>
      </p:sp>
      <p:sp>
        <p:nvSpPr>
          <p:cNvPr id="5" name="Text 3"/>
          <p:cNvSpPr/>
          <p:nvPr/>
        </p:nvSpPr>
        <p:spPr>
          <a:xfrm>
            <a:off x="960120" y="2240280"/>
            <a:ext cx="6126480" cy="45720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Acme  ·  Program Manager, Risk</a:t>
            </a:r>
            <a:endParaRPr lang="en-US" sz="1800" dirty="0"/>
          </a:p>
        </p:txBody>
      </p:sp>
      <p:sp>
        <p:nvSpPr>
          <p:cNvPr id="6" name="Text 4"/>
          <p:cNvSpPr/>
          <p:nvPr/>
        </p:nvSpPr>
        <p:spPr>
          <a:xfrm>
            <a:off x="960120" y="2697480"/>
            <a:ext cx="6126480" cy="411480"/>
          </a:xfrm>
          <a:prstGeom prst="rect">
            <a:avLst/>
          </a:prstGeom>
          <a:noFill/>
          <a:ln/>
        </p:spPr>
        <p:txBody>
          <a:bodyPr wrap="square" lIns="0" tIns="0" rIns="0" bIns="0" rtlCol="0" anchor="ctr"/>
          <a:lstStyle/>
          <a:p>
            <a:pPr indent="0" marL="0">
              <a:buNone/>
            </a:pPr>
            <a:r>
              <a:rPr lang="en-US" sz="1600" b="1" dirty="0">
                <a:solidFill>
                  <a:srgbClr val="B8860B"/>
                </a:solidFill>
                <a:latin typeface="Calibri" pitchFamily="34" charset="0"/>
                <a:ea typeface="Calibri" pitchFamily="34" charset="-122"/>
                <a:cs typeface="Calibri" pitchFamily="34" charset="-120"/>
              </a:rPr>
              <a:t>Stretch</a:t>
            </a:r>
            <a:pPr indent="0" marL="0">
              <a:buNone/>
            </a:pPr>
            <a:r>
              <a:rPr lang="en-US" sz="1600" dirty="0">
                <a:solidFill>
                  <a:srgbClr val="5B6472"/>
                </a:solidFill>
                <a:latin typeface="Calibri" pitchFamily="34" charset="0"/>
                <a:ea typeface="Calibri" pitchFamily="34" charset="-122"/>
                <a:cs typeface="Calibri" pitchFamily="34" charset="-120"/>
              </a:rPr>
              <a:t>   (11/18)</a:t>
            </a:r>
            <a:endParaRPr lang="en-US" sz="1600" dirty="0"/>
          </a:p>
        </p:txBody>
      </p:sp>
      <p:sp>
        <p:nvSpPr>
          <p:cNvPr id="7" name="Text 5"/>
          <p:cNvSpPr/>
          <p:nvPr/>
        </p:nvSpPr>
        <p:spPr>
          <a:xfrm>
            <a:off x="960120" y="3154680"/>
            <a:ext cx="6217920" cy="365760"/>
          </a:xfrm>
          <a:prstGeom prst="rect">
            <a:avLst/>
          </a:prstGeom>
          <a:noFill/>
          <a:ln/>
        </p:spPr>
        <p:txBody>
          <a:bodyPr wrap="square" lIns="0" tIns="0" rIns="0" bIns="0" rtlCol="0" anchor="ctr"/>
          <a:lstStyle/>
          <a:p>
            <a:pPr indent="0" marL="0">
              <a:buNone/>
            </a:pPr>
            <a:r>
              <a:rPr lang="en-US" sz="1300" dirty="0">
                <a:solidFill>
                  <a:srgbClr val="1E2761"/>
                </a:solidFill>
                <a:latin typeface="Calibri" pitchFamily="34" charset="0"/>
                <a:ea typeface="Calibri" pitchFamily="34" charset="-122"/>
                <a:cs typeface="Calibri" pitchFamily="34" charset="-120"/>
              </a:rPr>
              <a:t>skill 2  ·  level 3  ·  domain 1  ·  location 3  ·  mission 1  ·  screens 1</a:t>
            </a:r>
            <a:endParaRPr lang="en-US" sz="1300" dirty="0"/>
          </a:p>
        </p:txBody>
      </p:sp>
      <p:sp>
        <p:nvSpPr>
          <p:cNvPr id="8" name="Text 6"/>
          <p:cNvSpPr/>
          <p:nvPr/>
        </p:nvSpPr>
        <p:spPr>
          <a:xfrm>
            <a:off x="960120" y="3611880"/>
            <a:ext cx="6217920" cy="548640"/>
          </a:xfrm>
          <a:prstGeom prst="rect">
            <a:avLst/>
          </a:prstGeom>
          <a:noFill/>
          <a:ln/>
        </p:spPr>
        <p:txBody>
          <a:bodyPr wrap="square" lIns="0" tIns="0" rIns="0" bIns="0" rtlCol="0" anchor="ctr"/>
          <a:lstStyle/>
          <a:p>
            <a:pPr indent="0" marL="0">
              <a:buNone/>
            </a:pPr>
            <a:r>
              <a:rPr lang="en-US" sz="1350" b="1" dirty="0">
                <a:solidFill>
                  <a:srgbClr val="02C39A"/>
                </a:solidFill>
                <a:latin typeface="Calibri" pitchFamily="34" charset="0"/>
                <a:ea typeface="Calibri" pitchFamily="34" charset="-122"/>
                <a:cs typeface="Calibri" pitchFamily="34" charset="-120"/>
              </a:rPr>
              <a:t>Why you fit:  </a:t>
            </a:r>
            <a:pPr indent="0" marL="0">
              <a:buNone/>
            </a:pPr>
            <a:r>
              <a:rPr lang="en-US" sz="1350" dirty="0">
                <a:solidFill>
                  <a:srgbClr val="5B6472"/>
                </a:solidFill>
                <a:latin typeface="Calibri" pitchFamily="34" charset="0"/>
                <a:ea typeface="Calibri" pitchFamily="34" charset="-122"/>
                <a:cs typeface="Calibri" pitchFamily="34" charset="-120"/>
              </a:rPr>
              <a:t>level and location are ideal; your risk-program record maps directly.</a:t>
            </a:r>
            <a:endParaRPr lang="en-US" sz="1350" dirty="0"/>
          </a:p>
        </p:txBody>
      </p:sp>
      <p:sp>
        <p:nvSpPr>
          <p:cNvPr id="9" name="Text 7"/>
          <p:cNvSpPr/>
          <p:nvPr/>
        </p:nvSpPr>
        <p:spPr>
          <a:xfrm>
            <a:off x="960120" y="4206240"/>
            <a:ext cx="6217920" cy="640080"/>
          </a:xfrm>
          <a:prstGeom prst="rect">
            <a:avLst/>
          </a:prstGeom>
          <a:noFill/>
          <a:ln/>
        </p:spPr>
        <p:txBody>
          <a:bodyPr wrap="square" lIns="0" tIns="0" rIns="0" bIns="0" rtlCol="0" anchor="ctr"/>
          <a:lstStyle/>
          <a:p>
            <a:pPr indent="0" marL="0">
              <a:buNone/>
            </a:pPr>
            <a:r>
              <a:rPr lang="en-US" sz="1350" b="1" dirty="0">
                <a:solidFill>
                  <a:srgbClr val="F96167"/>
                </a:solidFill>
                <a:latin typeface="Calibri" pitchFamily="34" charset="0"/>
                <a:ea typeface="Calibri" pitchFamily="34" charset="-122"/>
                <a:cs typeface="Calibri" pitchFamily="34" charset="-120"/>
              </a:rPr>
              <a:t>The gap:  </a:t>
            </a:r>
            <a:pPr indent="0" marL="0">
              <a:buNone/>
            </a:pPr>
            <a:r>
              <a:rPr lang="en-US" sz="1350" dirty="0">
                <a:solidFill>
                  <a:srgbClr val="5B6472"/>
                </a:solidFill>
                <a:latin typeface="Calibri" pitchFamily="34" charset="0"/>
                <a:ea typeface="Calibri" pitchFamily="34" charset="-122"/>
                <a:cs typeface="Calibri" pitchFamily="34" charset="-120"/>
              </a:rPr>
              <a:t>domain is healthcare, which you haven't worked. A story problem, not a qualification one.</a:t>
            </a:r>
            <a:endParaRPr lang="en-US" sz="1350" dirty="0"/>
          </a:p>
        </p:txBody>
      </p:sp>
      <p:sp>
        <p:nvSpPr>
          <p:cNvPr id="10" name="Text 8"/>
          <p:cNvSpPr/>
          <p:nvPr/>
        </p:nvSpPr>
        <p:spPr>
          <a:xfrm>
            <a:off x="960120" y="4892040"/>
            <a:ext cx="6217920" cy="45720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Legitimacy:  </a:t>
            </a:r>
            <a:pPr indent="0" marL="0">
              <a:buNone/>
            </a:pPr>
            <a:r>
              <a:rPr lang="en-US" sz="1350" dirty="0">
                <a:solidFill>
                  <a:srgbClr val="5B6472"/>
                </a:solidFill>
                <a:latin typeface="Calibri" pitchFamily="34" charset="0"/>
                <a:ea typeface="Calibri" pitchFamily="34" charset="-122"/>
                <a:cs typeface="Calibri" pitchFamily="34" charset="-120"/>
              </a:rPr>
              <a:t>real employer, posted 5 days ago, direct hire.</a:t>
            </a:r>
            <a:endParaRPr lang="en-US" sz="1350" dirty="0"/>
          </a:p>
        </p:txBody>
      </p:sp>
      <p:sp>
        <p:nvSpPr>
          <p:cNvPr id="11" name="Shape 9"/>
          <p:cNvSpPr/>
          <p:nvPr/>
        </p:nvSpPr>
        <p:spPr>
          <a:xfrm>
            <a:off x="7635240" y="1965960"/>
            <a:ext cx="3886200" cy="3566160"/>
          </a:xfrm>
          <a:prstGeom prst="roundRect">
            <a:avLst>
              <a:gd name="adj" fmla="val 2308"/>
            </a:avLst>
          </a:prstGeom>
          <a:solidFill>
            <a:srgbClr val="1E2761"/>
          </a:solidFill>
          <a:ln/>
          <a:effectLst>
            <a:outerShdw sx="100000" sy="100000" kx="0" ky="0" algn="bl" rotWithShape="0" blurRad="88900" dist="38100" dir="5400000">
              <a:srgbClr val="9AA6BF">
                <a:alpha val="28000"/>
              </a:srgbClr>
            </a:outerShdw>
          </a:effectLst>
        </p:spPr>
      </p:sp>
      <p:sp>
        <p:nvSpPr>
          <p:cNvPr id="12" name="Text 10"/>
          <p:cNvSpPr/>
          <p:nvPr/>
        </p:nvSpPr>
        <p:spPr>
          <a:xfrm>
            <a:off x="7955280" y="2286000"/>
            <a:ext cx="3291840" cy="457200"/>
          </a:xfrm>
          <a:prstGeom prst="rect">
            <a:avLst/>
          </a:prstGeom>
          <a:noFill/>
          <a:ln/>
        </p:spPr>
        <p:txBody>
          <a:bodyPr wrap="square" lIns="0" tIns="0" rIns="0" bIns="0" rtlCol="0" anchor="ctr"/>
          <a:lstStyle/>
          <a:p>
            <a:pPr indent="0" marL="0">
              <a:buNone/>
            </a:pPr>
            <a:r>
              <a:rPr lang="en-US" sz="1600" b="1" dirty="0">
                <a:solidFill>
                  <a:srgbClr val="02C39A"/>
                </a:solidFill>
                <a:latin typeface="Cambria" pitchFamily="34" charset="0"/>
                <a:ea typeface="Cambria" pitchFamily="34" charset="-122"/>
                <a:cs typeface="Cambria" pitchFamily="34" charset="-120"/>
              </a:rPr>
              <a:t>What to notice</a:t>
            </a:r>
            <a:endParaRPr lang="en-US" sz="1600" dirty="0"/>
          </a:p>
        </p:txBody>
      </p:sp>
      <p:sp>
        <p:nvSpPr>
          <p:cNvPr id="13" name="Text 11"/>
          <p:cNvSpPr/>
          <p:nvPr/>
        </p:nvSpPr>
        <p:spPr>
          <a:xfrm>
            <a:off x="7955280" y="2834640"/>
            <a:ext cx="3291840" cy="2560320"/>
          </a:xfrm>
          <a:prstGeom prst="rect">
            <a:avLst/>
          </a:prstGeom>
          <a:noFill/>
          <a:ln/>
        </p:spPr>
        <p:txBody>
          <a:bodyPr wrap="square" lIns="0" tIns="0" rIns="0" bIns="0" rtlCol="0" anchor="ctr"/>
          <a:lstStyle/>
          <a:p>
            <a:pPr marL="177800" indent="-177800">
              <a:spcAft>
                <a:spcPts val="900"/>
              </a:spcAft>
              <a:buSzPct val="100000"/>
              <a:buChar char="•"/>
            </a:pPr>
            <a:r>
              <a:rPr lang="en-US" sz="1350" dirty="0">
                <a:solidFill>
                  <a:srgbClr val="CADCFC"/>
                </a:solidFill>
                <a:latin typeface="Calibri" pitchFamily="34" charset="0"/>
                <a:ea typeface="Calibri" pitchFamily="34" charset="-122"/>
                <a:cs typeface="Calibri" pitchFamily="34" charset="-120"/>
              </a:rPr>
              <a:t>Six sub-scores you can see and argue with, not a mystery number.</a:t>
            </a:r>
            <a:endParaRPr lang="en-US" sz="1350" dirty="0"/>
          </a:p>
          <a:p>
            <a:pPr marL="177800" indent="-177800">
              <a:spcAft>
                <a:spcPts val="900"/>
              </a:spcAft>
              <a:buSzPct val="100000"/>
              <a:buChar char="•"/>
            </a:pPr>
            <a:r>
              <a:rPr lang="en-US" sz="1350" dirty="0">
                <a:solidFill>
                  <a:srgbClr val="CADCFC"/>
                </a:solidFill>
                <a:latin typeface="Calibri" pitchFamily="34" charset="0"/>
                <a:ea typeface="Calibri" pitchFamily="34" charset="-122"/>
                <a:cs typeface="Calibri" pitchFamily="34" charset="-120"/>
              </a:rPr>
              <a:t>A gap and a why-you-fit, so it's honest both ways.</a:t>
            </a:r>
            <a:endParaRPr lang="en-US" sz="1350" dirty="0"/>
          </a:p>
          <a:p>
            <a:pPr marL="177800" indent="-177800">
              <a:spcAft>
                <a:spcPts val="900"/>
              </a:spcAft>
              <a:buSzPct val="100000"/>
              <a:buChar char="•"/>
            </a:pPr>
            <a:r>
              <a:rPr lang="en-US" sz="1350" dirty="0">
                <a:solidFill>
                  <a:srgbClr val="CADCFC"/>
                </a:solidFill>
                <a:latin typeface="Calibri" pitchFamily="34" charset="0"/>
                <a:ea typeface="Calibri" pitchFamily="34" charset="-122"/>
                <a:cs typeface="Calibri" pitchFamily="34" charset="-120"/>
              </a:rPr>
              <a:t>Each posting screened, so a ghost job never reaches you.</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640080" y="502920"/>
            <a:ext cx="7315200" cy="36576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WHEN YOU ACT ON A MATCH</a:t>
            </a:r>
            <a:endParaRPr lang="en-US" sz="1300" dirty="0"/>
          </a:p>
        </p:txBody>
      </p:sp>
      <p:sp>
        <p:nvSpPr>
          <p:cNvPr id="3" name="Text 1"/>
          <p:cNvSpPr/>
          <p:nvPr/>
        </p:nvSpPr>
        <p:spPr>
          <a:xfrm>
            <a:off x="640080" y="841248"/>
            <a:ext cx="10881360" cy="1005840"/>
          </a:xfrm>
          <a:prstGeom prst="rect">
            <a:avLst/>
          </a:prstGeom>
          <a:noFill/>
          <a:ln/>
        </p:spPr>
        <p:txBody>
          <a:bodyPr wrap="square" lIns="0" tIns="0" rIns="0" bIns="0" rtlCol="0" anchor="ctr"/>
          <a:lstStyle/>
          <a:p>
            <a:pPr indent="0" marL="0">
              <a:buNone/>
            </a:pPr>
            <a:r>
              <a:rPr lang="en-US" sz="3300" b="1" dirty="0">
                <a:solidFill>
                  <a:srgbClr val="1E2761"/>
                </a:solidFill>
                <a:latin typeface="Cambria" pitchFamily="34" charset="0"/>
                <a:ea typeface="Cambria" pitchFamily="34" charset="-122"/>
                <a:cs typeface="Cambria" pitchFamily="34" charset="-120"/>
              </a:rPr>
              <a:t>Draft, plan, prep</a:t>
            </a:r>
            <a:endParaRPr lang="en-US" sz="3300" dirty="0"/>
          </a:p>
        </p:txBody>
      </p:sp>
      <p:sp>
        <p:nvSpPr>
          <p:cNvPr id="4" name="Shape 2"/>
          <p:cNvSpPr/>
          <p:nvPr/>
        </p:nvSpPr>
        <p:spPr>
          <a:xfrm>
            <a:off x="640080" y="2011680"/>
            <a:ext cx="3520440" cy="3429000"/>
          </a:xfrm>
          <a:prstGeom prst="roundRect">
            <a:avLst>
              <a:gd name="adj" fmla="val 2400"/>
            </a:avLst>
          </a:prstGeom>
          <a:solidFill>
            <a:srgbClr val="FFFFFF"/>
          </a:solidFill>
          <a:ln/>
          <a:effectLst>
            <a:outerShdw sx="100000" sy="100000" kx="0" ky="0" algn="bl" rotWithShape="0" blurRad="88900" dist="38100" dir="5400000">
              <a:srgbClr val="9AA6BF">
                <a:alpha val="28000"/>
              </a:srgbClr>
            </a:outerShdw>
          </a:effectLst>
        </p:spPr>
      </p:sp>
      <p:sp>
        <p:nvSpPr>
          <p:cNvPr id="5" name="Text 3"/>
          <p:cNvSpPr/>
          <p:nvPr/>
        </p:nvSpPr>
        <p:spPr>
          <a:xfrm>
            <a:off x="960120" y="2286000"/>
            <a:ext cx="2926080" cy="45720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Draft a note</a:t>
            </a:r>
            <a:endParaRPr lang="en-US" sz="1700" dirty="0"/>
          </a:p>
        </p:txBody>
      </p:sp>
      <p:sp>
        <p:nvSpPr>
          <p:cNvPr id="6" name="Shape 4"/>
          <p:cNvSpPr/>
          <p:nvPr/>
        </p:nvSpPr>
        <p:spPr>
          <a:xfrm>
            <a:off x="960120" y="2788920"/>
            <a:ext cx="2880360" cy="502920"/>
          </a:xfrm>
          <a:prstGeom prst="roundRect">
            <a:avLst>
              <a:gd name="adj" fmla="val 10909"/>
            </a:avLst>
          </a:prstGeom>
          <a:solidFill>
            <a:srgbClr val="F4F6FB"/>
          </a:solidFill>
          <a:ln/>
        </p:spPr>
      </p:sp>
      <p:sp>
        <p:nvSpPr>
          <p:cNvPr id="7" name="Text 5"/>
          <p:cNvSpPr/>
          <p:nvPr/>
        </p:nvSpPr>
        <p:spPr>
          <a:xfrm>
            <a:off x="1051560" y="2788920"/>
            <a:ext cx="2697480" cy="502920"/>
          </a:xfrm>
          <a:prstGeom prst="rect">
            <a:avLst/>
          </a:prstGeom>
          <a:noFill/>
          <a:ln/>
        </p:spPr>
        <p:txBody>
          <a:bodyPr wrap="square" lIns="0" tIns="0" rIns="0" bIns="0" rtlCol="0" anchor="ctr"/>
          <a:lstStyle/>
          <a:p>
            <a:pPr indent="0" marL="0">
              <a:buNone/>
            </a:pPr>
            <a:r>
              <a:rPr lang="en-US" sz="1250" i="1" dirty="0">
                <a:solidFill>
                  <a:srgbClr val="1E2761"/>
                </a:solidFill>
                <a:latin typeface="Calibri" pitchFamily="34" charset="0"/>
                <a:ea typeface="Calibri" pitchFamily="34" charset="-122"/>
                <a:cs typeface="Calibri" pitchFamily="34" charset="-120"/>
              </a:rPr>
              <a:t>“draft a note for [role]”</a:t>
            </a:r>
            <a:endParaRPr lang="en-US" sz="1250" dirty="0"/>
          </a:p>
        </p:txBody>
      </p:sp>
      <p:sp>
        <p:nvSpPr>
          <p:cNvPr id="8" name="Text 6"/>
          <p:cNvSpPr/>
          <p:nvPr/>
        </p:nvSpPr>
        <p:spPr>
          <a:xfrm>
            <a:off x="960120" y="3474720"/>
            <a:ext cx="2926080" cy="1828800"/>
          </a:xfrm>
          <a:prstGeom prst="rect">
            <a:avLst/>
          </a:prstGeom>
          <a:noFill/>
          <a:ln/>
        </p:spPr>
        <p:txBody>
          <a:bodyPr wrap="square" lIns="0" tIns="0" rIns="0" bIns="0" rtlCol="0" anchor="ctr"/>
          <a:lstStyle/>
          <a:p>
            <a:pPr indent="0" marL="0">
              <a:buNone/>
            </a:pPr>
            <a:r>
              <a:rPr lang="en-US" sz="1350" dirty="0">
                <a:solidFill>
                  <a:srgbClr val="5B6472"/>
                </a:solidFill>
                <a:latin typeface="Calibri" pitchFamily="34" charset="0"/>
                <a:ea typeface="Calibri" pitchFamily="34" charset="-122"/>
                <a:cs typeface="Calibri" pitchFamily="34" charset="-120"/>
              </a:rPr>
              <a:t>A cover note that never restates the posting: one true hook, one real story, a close. No fake enthusiasm.</a:t>
            </a:r>
            <a:endParaRPr lang="en-US" sz="1350" dirty="0"/>
          </a:p>
        </p:txBody>
      </p:sp>
      <p:sp>
        <p:nvSpPr>
          <p:cNvPr id="9" name="Shape 7"/>
          <p:cNvSpPr/>
          <p:nvPr/>
        </p:nvSpPr>
        <p:spPr>
          <a:xfrm>
            <a:off x="4343400" y="2011680"/>
            <a:ext cx="3520440" cy="3429000"/>
          </a:xfrm>
          <a:prstGeom prst="roundRect">
            <a:avLst>
              <a:gd name="adj" fmla="val 2400"/>
            </a:avLst>
          </a:prstGeom>
          <a:solidFill>
            <a:srgbClr val="FFFFFF"/>
          </a:solidFill>
          <a:ln/>
          <a:effectLst>
            <a:outerShdw sx="100000" sy="100000" kx="0" ky="0" algn="bl" rotWithShape="0" blurRad="88900" dist="38100" dir="5400000">
              <a:srgbClr val="9AA6BF">
                <a:alpha val="28000"/>
              </a:srgbClr>
            </a:outerShdw>
          </a:effectLst>
        </p:spPr>
      </p:sp>
      <p:sp>
        <p:nvSpPr>
          <p:cNvPr id="10" name="Text 8"/>
          <p:cNvSpPr/>
          <p:nvPr/>
        </p:nvSpPr>
        <p:spPr>
          <a:xfrm>
            <a:off x="4663440" y="2286000"/>
            <a:ext cx="2926080" cy="45720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Make a study plan</a:t>
            </a:r>
            <a:endParaRPr lang="en-US" sz="1700" dirty="0"/>
          </a:p>
        </p:txBody>
      </p:sp>
      <p:sp>
        <p:nvSpPr>
          <p:cNvPr id="11" name="Shape 9"/>
          <p:cNvSpPr/>
          <p:nvPr/>
        </p:nvSpPr>
        <p:spPr>
          <a:xfrm>
            <a:off x="4663440" y="2788920"/>
            <a:ext cx="2880360" cy="502920"/>
          </a:xfrm>
          <a:prstGeom prst="roundRect">
            <a:avLst>
              <a:gd name="adj" fmla="val 10909"/>
            </a:avLst>
          </a:prstGeom>
          <a:solidFill>
            <a:srgbClr val="F4F6FB"/>
          </a:solidFill>
          <a:ln/>
        </p:spPr>
      </p:sp>
      <p:sp>
        <p:nvSpPr>
          <p:cNvPr id="12" name="Text 10"/>
          <p:cNvSpPr/>
          <p:nvPr/>
        </p:nvSpPr>
        <p:spPr>
          <a:xfrm>
            <a:off x="4754880" y="2788920"/>
            <a:ext cx="2697480" cy="502920"/>
          </a:xfrm>
          <a:prstGeom prst="rect">
            <a:avLst/>
          </a:prstGeom>
          <a:noFill/>
          <a:ln/>
        </p:spPr>
        <p:txBody>
          <a:bodyPr wrap="square" lIns="0" tIns="0" rIns="0" bIns="0" rtlCol="0" anchor="ctr"/>
          <a:lstStyle/>
          <a:p>
            <a:pPr indent="0" marL="0">
              <a:buNone/>
            </a:pPr>
            <a:r>
              <a:rPr lang="en-US" sz="1250" i="1" dirty="0">
                <a:solidFill>
                  <a:srgbClr val="1E2761"/>
                </a:solidFill>
                <a:latin typeface="Calibri" pitchFamily="34" charset="0"/>
                <a:ea typeface="Calibri" pitchFamily="34" charset="-122"/>
                <a:cs typeface="Calibri" pitchFamily="34" charset="-120"/>
              </a:rPr>
              <a:t>“what should I study?”</a:t>
            </a:r>
            <a:endParaRPr lang="en-US" sz="1250" dirty="0"/>
          </a:p>
        </p:txBody>
      </p:sp>
      <p:sp>
        <p:nvSpPr>
          <p:cNvPr id="13" name="Text 11"/>
          <p:cNvSpPr/>
          <p:nvPr/>
        </p:nvSpPr>
        <p:spPr>
          <a:xfrm>
            <a:off x="4663440" y="3474720"/>
            <a:ext cx="2926080" cy="1828800"/>
          </a:xfrm>
          <a:prstGeom prst="rect">
            <a:avLst/>
          </a:prstGeom>
          <a:noFill/>
          <a:ln/>
        </p:spPr>
        <p:txBody>
          <a:bodyPr wrap="square" lIns="0" tIns="0" rIns="0" bIns="0" rtlCol="0" anchor="ctr"/>
          <a:lstStyle/>
          <a:p>
            <a:pPr indent="0" marL="0">
              <a:buNone/>
            </a:pPr>
            <a:r>
              <a:rPr lang="en-US" sz="1350" dirty="0">
                <a:solidFill>
                  <a:srgbClr val="5B6472"/>
                </a:solidFill>
                <a:latin typeface="Calibri" pitchFamily="34" charset="0"/>
                <a:ea typeface="Calibri" pitchFamily="34" charset="-122"/>
                <a:cs typeface="Calibri" pitchFamily="34" charset="-120"/>
              </a:rPr>
              <a:t>For a gap that keeps recurring: real resources, honest timelines, ending in something you can show.</a:t>
            </a:r>
            <a:endParaRPr lang="en-US" sz="1350" dirty="0"/>
          </a:p>
        </p:txBody>
      </p:sp>
      <p:sp>
        <p:nvSpPr>
          <p:cNvPr id="14" name="Shape 12"/>
          <p:cNvSpPr/>
          <p:nvPr/>
        </p:nvSpPr>
        <p:spPr>
          <a:xfrm>
            <a:off x="8046720" y="2011680"/>
            <a:ext cx="3520440" cy="3429000"/>
          </a:xfrm>
          <a:prstGeom prst="roundRect">
            <a:avLst>
              <a:gd name="adj" fmla="val 2400"/>
            </a:avLst>
          </a:prstGeom>
          <a:solidFill>
            <a:srgbClr val="FFFFFF"/>
          </a:solidFill>
          <a:ln/>
          <a:effectLst>
            <a:outerShdw sx="100000" sy="100000" kx="0" ky="0" algn="bl" rotWithShape="0" blurRad="88900" dist="38100" dir="5400000">
              <a:srgbClr val="9AA6BF">
                <a:alpha val="28000"/>
              </a:srgbClr>
            </a:outerShdw>
          </a:effectLst>
        </p:spPr>
      </p:sp>
      <p:sp>
        <p:nvSpPr>
          <p:cNvPr id="15" name="Text 13"/>
          <p:cNvSpPr/>
          <p:nvPr/>
        </p:nvSpPr>
        <p:spPr>
          <a:xfrm>
            <a:off x="8366760" y="2286000"/>
            <a:ext cx="2926080" cy="45720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Prep for an interview</a:t>
            </a:r>
            <a:endParaRPr lang="en-US" sz="1700" dirty="0"/>
          </a:p>
        </p:txBody>
      </p:sp>
      <p:sp>
        <p:nvSpPr>
          <p:cNvPr id="16" name="Shape 14"/>
          <p:cNvSpPr/>
          <p:nvPr/>
        </p:nvSpPr>
        <p:spPr>
          <a:xfrm>
            <a:off x="8366760" y="2788920"/>
            <a:ext cx="2880360" cy="502920"/>
          </a:xfrm>
          <a:prstGeom prst="roundRect">
            <a:avLst>
              <a:gd name="adj" fmla="val 10909"/>
            </a:avLst>
          </a:prstGeom>
          <a:solidFill>
            <a:srgbClr val="F4F6FB"/>
          </a:solidFill>
          <a:ln/>
        </p:spPr>
      </p:sp>
      <p:sp>
        <p:nvSpPr>
          <p:cNvPr id="17" name="Text 15"/>
          <p:cNvSpPr/>
          <p:nvPr/>
        </p:nvSpPr>
        <p:spPr>
          <a:xfrm>
            <a:off x="8458200" y="2788920"/>
            <a:ext cx="2697480" cy="502920"/>
          </a:xfrm>
          <a:prstGeom prst="rect">
            <a:avLst/>
          </a:prstGeom>
          <a:noFill/>
          <a:ln/>
        </p:spPr>
        <p:txBody>
          <a:bodyPr wrap="square" lIns="0" tIns="0" rIns="0" bIns="0" rtlCol="0" anchor="ctr"/>
          <a:lstStyle/>
          <a:p>
            <a:pPr indent="0" marL="0">
              <a:buNone/>
            </a:pPr>
            <a:r>
              <a:rPr lang="en-US" sz="1250" i="1" dirty="0">
                <a:solidFill>
                  <a:srgbClr val="1E2761"/>
                </a:solidFill>
                <a:latin typeface="Calibri" pitchFamily="34" charset="0"/>
                <a:ea typeface="Calibri" pitchFamily="34" charset="-122"/>
                <a:cs typeface="Calibri" pitchFamily="34" charset="-120"/>
              </a:rPr>
              <a:t>“prep me for [company]”</a:t>
            </a:r>
            <a:endParaRPr lang="en-US" sz="1250" dirty="0"/>
          </a:p>
        </p:txBody>
      </p:sp>
      <p:sp>
        <p:nvSpPr>
          <p:cNvPr id="18" name="Text 16"/>
          <p:cNvSpPr/>
          <p:nvPr/>
        </p:nvSpPr>
        <p:spPr>
          <a:xfrm>
            <a:off x="8366760" y="3474720"/>
            <a:ext cx="2926080" cy="1828800"/>
          </a:xfrm>
          <a:prstGeom prst="rect">
            <a:avLst/>
          </a:prstGeom>
          <a:noFill/>
          <a:ln/>
        </p:spPr>
        <p:txBody>
          <a:bodyPr wrap="square" lIns="0" tIns="0" rIns="0" bIns="0" rtlCol="0" anchor="ctr"/>
          <a:lstStyle/>
          <a:p>
            <a:pPr indent="0" marL="0">
              <a:buNone/>
            </a:pPr>
            <a:r>
              <a:rPr lang="en-US" sz="1350" dirty="0">
                <a:solidFill>
                  <a:srgbClr val="5B6472"/>
                </a:solidFill>
                <a:latin typeface="Calibri" pitchFamily="34" charset="0"/>
                <a:ea typeface="Calibri" pitchFamily="34" charset="-122"/>
                <a:cs typeface="Calibri" pitchFamily="34" charset="-120"/>
              </a:rPr>
              <a:t>Likely questions mapped to your real stories, plus an honest plan for your thin spots.</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052560" y="-1371600"/>
            <a:ext cx="4023360" cy="4023360"/>
          </a:xfrm>
          <a:prstGeom prst="ellipse">
            <a:avLst/>
          </a:prstGeom>
          <a:solidFill>
            <a:srgbClr val="2A3573"/>
          </a:solidFill>
          <a:ln/>
        </p:spPr>
      </p:sp>
      <p:sp>
        <p:nvSpPr>
          <p:cNvPr id="3" name="Text 1"/>
          <p:cNvSpPr/>
          <p:nvPr/>
        </p:nvSpPr>
        <p:spPr>
          <a:xfrm>
            <a:off x="640080" y="502920"/>
            <a:ext cx="7315200" cy="36576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SET YOUR EXPECTATIONS</a:t>
            </a:r>
            <a:endParaRPr lang="en-US" sz="1300" dirty="0"/>
          </a:p>
        </p:txBody>
      </p:sp>
      <p:sp>
        <p:nvSpPr>
          <p:cNvPr id="4" name="Text 2"/>
          <p:cNvSpPr/>
          <p:nvPr/>
        </p:nvSpPr>
        <p:spPr>
          <a:xfrm>
            <a:off x="777240" y="2011680"/>
            <a:ext cx="10515600" cy="10972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“Nothing new today.”</a:t>
            </a:r>
            <a:endParaRPr lang="en-US" sz="4000" dirty="0"/>
          </a:p>
        </p:txBody>
      </p:sp>
      <p:sp>
        <p:nvSpPr>
          <p:cNvPr id="5" name="Text 3"/>
          <p:cNvSpPr/>
          <p:nvPr/>
        </p:nvSpPr>
        <p:spPr>
          <a:xfrm>
            <a:off x="822960" y="3200400"/>
            <a:ext cx="10058400" cy="548640"/>
          </a:xfrm>
          <a:prstGeom prst="rect">
            <a:avLst/>
          </a:prstGeom>
          <a:noFill/>
          <a:ln/>
        </p:spPr>
        <p:txBody>
          <a:bodyPr wrap="square" lIns="0" tIns="0" rIns="0" bIns="0" rtlCol="0" anchor="ctr"/>
          <a:lstStyle/>
          <a:p>
            <a:pPr indent="0" marL="0">
              <a:buNone/>
            </a:pPr>
            <a:r>
              <a:rPr lang="en-US" sz="2200" i="1" dirty="0">
                <a:solidFill>
                  <a:srgbClr val="02C39A"/>
                </a:solidFill>
                <a:latin typeface="Cambria" pitchFamily="34" charset="0"/>
                <a:ea typeface="Cambria" pitchFamily="34" charset="-122"/>
                <a:cs typeface="Cambria" pitchFamily="34" charset="-120"/>
              </a:rPr>
              <a:t>That is the tool working correctly.</a:t>
            </a:r>
            <a:endParaRPr lang="en-US" sz="2200" dirty="0"/>
          </a:p>
        </p:txBody>
      </p:sp>
      <p:sp>
        <p:nvSpPr>
          <p:cNvPr id="6" name="Text 4"/>
          <p:cNvSpPr/>
          <p:nvPr/>
        </p:nvSpPr>
        <p:spPr>
          <a:xfrm>
            <a:off x="822960" y="4023360"/>
            <a:ext cx="10241280" cy="1463040"/>
          </a:xfrm>
          <a:prstGeom prst="rect">
            <a:avLst/>
          </a:prstGeom>
          <a:noFill/>
          <a:ln/>
        </p:spPr>
        <p:txBody>
          <a:bodyPr wrap="square" lIns="0" tIns="0" rIns="0" bIns="0" rtlCol="0" anchor="ctr"/>
          <a:lstStyle/>
          <a:p>
            <a:pPr indent="0" marL="0">
              <a:buNone/>
            </a:pPr>
            <a:r>
              <a:rPr lang="en-US" sz="1700" dirty="0">
                <a:solidFill>
                  <a:srgbClr val="CADCFC"/>
                </a:solidFill>
                <a:latin typeface="Calibri" pitchFamily="34" charset="0"/>
                <a:ea typeface="Calibri" pitchFamily="34" charset="-122"/>
                <a:cs typeface="Calibri" pitchFamily="34" charset="-120"/>
              </a:rPr>
              <a:t>Real matches are rare. A scan that found three exciting roles every day is one you'd stop reading by week two, and then miss the one that mattered. This one is built to be boring most mornings, so it's worth reading on the morning it isn't.</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4206240"/>
            <a:ext cx="3840480" cy="3840480"/>
          </a:xfrm>
          <a:prstGeom prst="ellipse">
            <a:avLst/>
          </a:prstGeom>
          <a:solidFill>
            <a:srgbClr val="2A3573"/>
          </a:solidFill>
          <a:ln/>
        </p:spPr>
      </p:sp>
      <p:sp>
        <p:nvSpPr>
          <p:cNvPr id="3" name="Text 1"/>
          <p:cNvSpPr/>
          <p:nvPr/>
        </p:nvSpPr>
        <p:spPr>
          <a:xfrm>
            <a:off x="640080" y="502920"/>
            <a:ext cx="7315200" cy="36576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GET STARTED</a:t>
            </a:r>
            <a:endParaRPr lang="en-US" sz="1300" dirty="0"/>
          </a:p>
        </p:txBody>
      </p:sp>
      <p:sp>
        <p:nvSpPr>
          <p:cNvPr id="4" name="Text 2"/>
          <p:cNvSpPr/>
          <p:nvPr/>
        </p:nvSpPr>
        <p:spPr>
          <a:xfrm>
            <a:off x="777240" y="914400"/>
            <a:ext cx="10515600" cy="9144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Three lines to your first scan</a:t>
            </a:r>
            <a:endParaRPr lang="en-US" sz="3200" dirty="0"/>
          </a:p>
        </p:txBody>
      </p:sp>
      <p:sp>
        <p:nvSpPr>
          <p:cNvPr id="5" name="Shape 3"/>
          <p:cNvSpPr/>
          <p:nvPr/>
        </p:nvSpPr>
        <p:spPr>
          <a:xfrm>
            <a:off x="822960" y="2148840"/>
            <a:ext cx="658368" cy="658368"/>
          </a:xfrm>
          <a:prstGeom prst="ellipse">
            <a:avLst/>
          </a:prstGeom>
          <a:solidFill>
            <a:srgbClr val="02C39A"/>
          </a:solidFill>
          <a:ln/>
        </p:spPr>
      </p:sp>
      <p:sp>
        <p:nvSpPr>
          <p:cNvPr id="6" name="Text 4"/>
          <p:cNvSpPr/>
          <p:nvPr/>
        </p:nvSpPr>
        <p:spPr>
          <a:xfrm>
            <a:off x="822960" y="2148840"/>
            <a:ext cx="658368" cy="658368"/>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1</a:t>
            </a:r>
            <a:endParaRPr lang="en-US" sz="2200" dirty="0"/>
          </a:p>
        </p:txBody>
      </p:sp>
      <p:sp>
        <p:nvSpPr>
          <p:cNvPr id="7" name="Text 5"/>
          <p:cNvSpPr/>
          <p:nvPr/>
        </p:nvSpPr>
        <p:spPr>
          <a:xfrm>
            <a:off x="1783080" y="2130552"/>
            <a:ext cx="9144000" cy="4572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Install the skill</a:t>
            </a:r>
            <a:endParaRPr lang="en-US" sz="2000" dirty="0"/>
          </a:p>
        </p:txBody>
      </p:sp>
      <p:sp>
        <p:nvSpPr>
          <p:cNvPr id="8" name="Text 6"/>
          <p:cNvSpPr/>
          <p:nvPr/>
        </p:nvSpPr>
        <p:spPr>
          <a:xfrm>
            <a:off x="1783080" y="2560320"/>
            <a:ext cx="9144000" cy="411480"/>
          </a:xfrm>
          <a:prstGeom prst="rect">
            <a:avLst/>
          </a:prstGeom>
          <a:noFill/>
          <a:ln/>
        </p:spPr>
        <p:txBody>
          <a:bodyPr wrap="square" lIns="0" tIns="0" rIns="0" bIns="0" rtlCol="0" anchor="ctr"/>
          <a:lstStyle/>
          <a:p>
            <a:pPr indent="0" marL="0">
              <a:buNone/>
            </a:pPr>
            <a:r>
              <a:rPr lang="en-US" sz="1450" dirty="0">
                <a:solidFill>
                  <a:srgbClr val="CADCFC"/>
                </a:solidFill>
                <a:latin typeface="Calibri" pitchFamily="34" charset="0"/>
                <a:ea typeface="Calibri" pitchFamily="34" charset="-122"/>
                <a:cs typeface="Calibri" pitchFamily="34" charset="-120"/>
              </a:rPr>
              <a:t>Save it, connect an empty folder.</a:t>
            </a:r>
            <a:endParaRPr lang="en-US" sz="1450" dirty="0"/>
          </a:p>
        </p:txBody>
      </p:sp>
      <p:sp>
        <p:nvSpPr>
          <p:cNvPr id="9" name="Shape 7"/>
          <p:cNvSpPr/>
          <p:nvPr/>
        </p:nvSpPr>
        <p:spPr>
          <a:xfrm>
            <a:off x="822960" y="3383280"/>
            <a:ext cx="658368" cy="658368"/>
          </a:xfrm>
          <a:prstGeom prst="ellipse">
            <a:avLst/>
          </a:prstGeom>
          <a:solidFill>
            <a:srgbClr val="02C39A"/>
          </a:solidFill>
          <a:ln/>
        </p:spPr>
      </p:sp>
      <p:sp>
        <p:nvSpPr>
          <p:cNvPr id="10" name="Text 8"/>
          <p:cNvSpPr/>
          <p:nvPr/>
        </p:nvSpPr>
        <p:spPr>
          <a:xfrm>
            <a:off x="822960" y="3383280"/>
            <a:ext cx="658368" cy="658368"/>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2</a:t>
            </a:r>
            <a:endParaRPr lang="en-US" sz="2200" dirty="0"/>
          </a:p>
        </p:txBody>
      </p:sp>
      <p:sp>
        <p:nvSpPr>
          <p:cNvPr id="11" name="Text 9"/>
          <p:cNvSpPr/>
          <p:nvPr/>
        </p:nvSpPr>
        <p:spPr>
          <a:xfrm>
            <a:off x="1783080" y="3364992"/>
            <a:ext cx="9144000" cy="4572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“set up my job scan”</a:t>
            </a:r>
            <a:endParaRPr lang="en-US" sz="2000" dirty="0"/>
          </a:p>
        </p:txBody>
      </p:sp>
      <p:sp>
        <p:nvSpPr>
          <p:cNvPr id="12" name="Text 10"/>
          <p:cNvSpPr/>
          <p:nvPr/>
        </p:nvSpPr>
        <p:spPr>
          <a:xfrm>
            <a:off x="1783080" y="3794760"/>
            <a:ext cx="9144000" cy="411480"/>
          </a:xfrm>
          <a:prstGeom prst="rect">
            <a:avLst/>
          </a:prstGeom>
          <a:noFill/>
          <a:ln/>
        </p:spPr>
        <p:txBody>
          <a:bodyPr wrap="square" lIns="0" tIns="0" rIns="0" bIns="0" rtlCol="0" anchor="ctr"/>
          <a:lstStyle/>
          <a:p>
            <a:pPr indent="0" marL="0">
              <a:buNone/>
            </a:pPr>
            <a:r>
              <a:rPr lang="en-US" sz="1450" dirty="0">
                <a:solidFill>
                  <a:srgbClr val="CADCFC"/>
                </a:solidFill>
                <a:latin typeface="Calibri" pitchFamily="34" charset="0"/>
                <a:ea typeface="Calibri" pitchFamily="34" charset="-122"/>
                <a:cs typeface="Calibri" pitchFamily="34" charset="-120"/>
              </a:rPr>
              <a:t>Hand over your resume; answer the interview honestly.</a:t>
            </a:r>
            <a:endParaRPr lang="en-US" sz="1450" dirty="0"/>
          </a:p>
        </p:txBody>
      </p:sp>
      <p:sp>
        <p:nvSpPr>
          <p:cNvPr id="13" name="Shape 11"/>
          <p:cNvSpPr/>
          <p:nvPr/>
        </p:nvSpPr>
        <p:spPr>
          <a:xfrm>
            <a:off x="822960" y="4617720"/>
            <a:ext cx="658368" cy="658368"/>
          </a:xfrm>
          <a:prstGeom prst="ellipse">
            <a:avLst/>
          </a:prstGeom>
          <a:solidFill>
            <a:srgbClr val="02C39A"/>
          </a:solidFill>
          <a:ln/>
        </p:spPr>
      </p:sp>
      <p:sp>
        <p:nvSpPr>
          <p:cNvPr id="14" name="Text 12"/>
          <p:cNvSpPr/>
          <p:nvPr/>
        </p:nvSpPr>
        <p:spPr>
          <a:xfrm>
            <a:off x="822960" y="4617720"/>
            <a:ext cx="658368" cy="658368"/>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3</a:t>
            </a:r>
            <a:endParaRPr lang="en-US" sz="2200" dirty="0"/>
          </a:p>
        </p:txBody>
      </p:sp>
      <p:sp>
        <p:nvSpPr>
          <p:cNvPr id="15" name="Text 13"/>
          <p:cNvSpPr/>
          <p:nvPr/>
        </p:nvSpPr>
        <p:spPr>
          <a:xfrm>
            <a:off x="1783080" y="4599432"/>
            <a:ext cx="9144000" cy="4572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Schedule it daily</a:t>
            </a:r>
            <a:endParaRPr lang="en-US" sz="2000" dirty="0"/>
          </a:p>
        </p:txBody>
      </p:sp>
      <p:sp>
        <p:nvSpPr>
          <p:cNvPr id="16" name="Text 14"/>
          <p:cNvSpPr/>
          <p:nvPr/>
        </p:nvSpPr>
        <p:spPr>
          <a:xfrm>
            <a:off x="1783080" y="5029200"/>
            <a:ext cx="9144000" cy="411480"/>
          </a:xfrm>
          <a:prstGeom prst="rect">
            <a:avLst/>
          </a:prstGeom>
          <a:noFill/>
          <a:ln/>
        </p:spPr>
        <p:txBody>
          <a:bodyPr wrap="square" lIns="0" tIns="0" rIns="0" bIns="0" rtlCol="0" anchor="ctr"/>
          <a:lstStyle/>
          <a:p>
            <a:pPr indent="0" marL="0">
              <a:buNone/>
            </a:pPr>
            <a:r>
              <a:rPr lang="en-US" sz="1450" dirty="0">
                <a:solidFill>
                  <a:srgbClr val="CADCFC"/>
                </a:solidFill>
                <a:latin typeface="Calibri" pitchFamily="34" charset="0"/>
                <a:ea typeface="Calibri" pitchFamily="34" charset="-122"/>
                <a:cs typeface="Calibri" pitchFamily="34" charset="-120"/>
              </a:rPr>
              <a:t>Paste the prompt it gives you. Done.</a:t>
            </a:r>
            <a:endParaRPr lang="en-US" sz="1450" dirty="0"/>
          </a:p>
        </p:txBody>
      </p:sp>
      <p:sp>
        <p:nvSpPr>
          <p:cNvPr id="17" name="Text 15"/>
          <p:cNvSpPr/>
          <p:nvPr/>
        </p:nvSpPr>
        <p:spPr>
          <a:xfrm>
            <a:off x="822960" y="6126480"/>
            <a:ext cx="10058400" cy="457200"/>
          </a:xfrm>
          <a:prstGeom prst="rect">
            <a:avLst/>
          </a:prstGeom>
          <a:noFill/>
          <a:ln/>
        </p:spPr>
        <p:txBody>
          <a:bodyPr wrap="square" lIns="0" tIns="0" rIns="0" bIns="0" rtlCol="0" anchor="ctr"/>
          <a:lstStyle/>
          <a:p>
            <a:pPr indent="0" marL="0">
              <a:buNone/>
            </a:pPr>
            <a:r>
              <a:rPr lang="en-US" sz="1500" i="1" dirty="0">
                <a:solidFill>
                  <a:srgbClr val="8FA0CF"/>
                </a:solidFill>
                <a:latin typeface="Calibri" pitchFamily="34" charset="0"/>
                <a:ea typeface="Calibri" pitchFamily="34" charset="-122"/>
                <a:cs typeface="Calibri" pitchFamily="34" charset="-120"/>
              </a:rPr>
              <a:t>It drafts. You send. Your data stays yours.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2026-07-10T23:20:15Z</dcterms:created>
  <dcterms:modified xsi:type="dcterms:W3CDTF">2026-07-10T23:20:15Z</dcterms:modified>
</cp:coreProperties>
</file>